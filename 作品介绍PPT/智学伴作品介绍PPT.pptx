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34"/>
  </p:notesMasterIdLst>
  <p:sldIdLst>
    <p:sldId id="256" r:id="rId3"/>
    <p:sldId id="257" r:id="rId4"/>
    <p:sldId id="259" r:id="rId6"/>
    <p:sldId id="261" r:id="rId8"/>
    <p:sldId id="263" r:id="rId10"/>
    <p:sldId id="264" r:id="rId11"/>
    <p:sldId id="265" r:id="rId12"/>
    <p:sldId id="266" r:id="rId13"/>
    <p:sldId id="268" r:id="rId15"/>
    <p:sldId id="270" r:id="rId17"/>
    <p:sldId id="271" r:id="rId18"/>
    <p:sldId id="272" r:id="rId19"/>
    <p:sldId id="274" r:id="rId21"/>
    <p:sldId id="275" r:id="rId22"/>
    <p:sldId id="276" r:id="rId23"/>
    <p:sldId id="280" r:id="rId27"/>
    <p:sldId id="281" r:id="rId28"/>
    <p:sldId id="283" r:id="rId30"/>
    <p:sldId id="284" r:id="rId31"/>
    <p:sldId id="285" r:id="rId32"/>
    <p:sldId id="286" r:id="rId33"/>
  </p:sldIdLst>
  <p:sldSz cx="12852400" cy="72263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54" y="93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6" Type="http://schemas.openxmlformats.org/officeDocument/2006/relationships/slide" Target="slides/slide4.xml"/><Relationship Id="rId8" Type="http://schemas.openxmlformats.org/officeDocument/2006/relationships/slide" Target="slides/slide6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5" Type="http://schemas.openxmlformats.org/officeDocument/2006/relationships/slide" Target="slides/slide13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18.09.2026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可行性分析页。技术可行性强调纯前端架构和已实现的7600行原型代码；经济可行性强调低成本和单次0.03-0.08元的API成本；操作可行性强调双击即运行、数据存本地。三条共同支撑结论：三维度均已验证可行。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端到端案例页。以"拍照批改高数作业"为例，展示六步完整流程：拍照上传、OCR识别、题库匹配、填写解答、智能判题、诊断归档。突出从作业批改到个性化学习推荐的完整闭环。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Theme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858293" cy="7232904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706624" y="1453896"/>
            <a:ext cx="7452360" cy="2249424"/>
          </a:xfrm>
          <a:prstGeom prst="rect">
            <a:avLst/>
          </a:prstGeom>
          <a:noFill/>
          <a:ln w="12700">
            <a:solidFill>
              <a:srgbClr val="FFFFF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2926080" y="1664208"/>
            <a:ext cx="7013448" cy="10515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66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智学伴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3017520" y="2724912"/>
            <a:ext cx="6830568" cy="7772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BFD9F2"/>
                </a:solidFill>
                <a:latin typeface="微软雅黑"/>
                <a:ea typeface="微软雅黑"/>
                <a:cs typeface="微软雅黑"/>
                <a:sym typeface="微软雅黑"/>
              </a:rPr>
              <a:t>大学生 AI 个性化学习智能体</a:t>
            </a:r>
            <a:endParaRPr lang="en-US" sz="1100"/>
          </a:p>
          <a:p>
            <a:pPr marL="0" indent="0" algn="ctr" defTabSz="914400">
              <a:lnSpc>
                <a:spcPct val="125000"/>
              </a:lnSpc>
            </a:pPr>
            <a:r>
              <a:rPr lang="en-US" sz="1500" b="0" i="0" u="none" strike="noStrike">
                <a:solidFill>
                  <a:srgbClr val="BFD9F2"/>
                </a:solidFill>
                <a:latin typeface="微软雅黑"/>
                <a:ea typeface="微软雅黑"/>
                <a:cs typeface="微软雅黑"/>
                <a:sym typeface="微软雅黑"/>
              </a:rPr>
              <a:t>基于多角色协作的苏格拉底式 AI 学习伴侣</a:t>
            </a:r>
          </a:p>
        </p:txBody>
      </p:sp>
      <p:sp>
        <p:nvSpPr>
          <p:cNvPr id="6" name="AutoShape 6"/>
          <p:cNvSpPr/>
          <p:nvPr/>
        </p:nvSpPr>
        <p:spPr>
          <a:xfrm>
            <a:off x="4142232" y="3822192"/>
            <a:ext cx="4572000" cy="457200"/>
          </a:xfrm>
          <a:prstGeom prst="roundRect">
            <a:avLst>
              <a:gd name="adj" fmla="val 50000"/>
            </a:avLst>
          </a:prstGeom>
          <a:solidFill>
            <a:srgbClr val="1B4573">
              <a:alpha val="100000"/>
            </a:srgbClr>
          </a:solidFill>
          <a:ln w="12700">
            <a:solidFill>
              <a:srgbClr val="00B0F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4142232" y="3822192"/>
            <a:ext cx="4572000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600" b="1" i="0" u="none" strike="noStrike" spc="1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不是给答案，是教你想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706624" y="4572000"/>
            <a:ext cx="3017520" cy="329184"/>
          </a:xfrm>
          <a:prstGeom prst="rect">
            <a:avLst/>
          </a:prstGeom>
          <a:noFill/>
          <a:ln w="12700">
            <a:solidFill>
              <a:srgbClr val="FFFFF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2706624" y="4572000"/>
            <a:ext cx="3017520" cy="329184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本科组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2706624" y="5074920"/>
            <a:ext cx="7452360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8FB8DE"/>
                </a:solidFill>
                <a:latin typeface="微软雅黑"/>
                <a:ea typeface="微软雅黑"/>
                <a:cs typeface="微软雅黑"/>
                <a:sym typeface="微软雅黑"/>
              </a:rPr>
              <a:t>2026 年福建省大学生计算科学与智能创新大赛 ｜ 赛道：教育智能体应用</a:t>
            </a:r>
            <a:endParaRPr lang="en-US" sz="1100"/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858293" cy="7232904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3" name="AutoShape 3"/>
          <p:cNvSpPr/>
          <p:nvPr/>
        </p:nvSpPr>
        <p:spPr>
          <a:xfrm>
            <a:off x="2020824" y="2286000"/>
            <a:ext cx="3108960" cy="1371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84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目 录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920240" y="3703320"/>
            <a:ext cx="3291840" cy="5486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000" b="0" i="0" u="none" strike="noStrike" spc="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CONTENTS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379208" y="1655064"/>
            <a:ext cx="384048" cy="384048"/>
          </a:xfrm>
          <a:prstGeom prst="ellipse">
            <a:avLst/>
          </a:prstGeom>
          <a:solidFill>
            <a:srgbClr val="7F7F7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379208" y="1655064"/>
            <a:ext cx="384048" cy="38404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001000" y="1545336"/>
            <a:ext cx="4023360" cy="38404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需求分析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001000" y="1911096"/>
            <a:ext cx="4023360" cy="2377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00" b="0" i="0" u="none" strike="noStrike" spc="150">
                <a:solidFill>
                  <a:srgbClr val="9DC3E6"/>
                </a:solidFill>
                <a:latin typeface="Arial"/>
                <a:ea typeface="Arial"/>
                <a:cs typeface="Arial"/>
                <a:sym typeface="Arial"/>
              </a:rPr>
              <a:t>REQUIREMENTS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379208" y="2587752"/>
            <a:ext cx="384048" cy="384048"/>
          </a:xfrm>
          <a:prstGeom prst="ellipse">
            <a:avLst/>
          </a:prstGeom>
          <a:solidFill>
            <a:srgbClr val="7F7F7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7379208" y="2587752"/>
            <a:ext cx="384048" cy="38404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001000" y="2478024"/>
            <a:ext cx="4023360" cy="38404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解决方案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001000" y="2843784"/>
            <a:ext cx="4023360" cy="2377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00" b="0" i="0" u="none" strike="noStrike" spc="150">
                <a:solidFill>
                  <a:srgbClr val="9DC3E6"/>
                </a:solidFill>
                <a:latin typeface="Arial"/>
                <a:ea typeface="Arial"/>
                <a:cs typeface="Arial"/>
                <a:sym typeface="Arial"/>
              </a:rPr>
              <a:t>SOLUTION &amp; PROTOTYPE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379208" y="3520440"/>
            <a:ext cx="384048" cy="384048"/>
          </a:xfrm>
          <a:prstGeom prst="ellipse">
            <a:avLst/>
          </a:prstGeom>
          <a:solidFill>
            <a:srgbClr val="7F7F7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7379208" y="3520440"/>
            <a:ext cx="384048" cy="38404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001000" y="3410712"/>
            <a:ext cx="4023360" cy="38404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核心创新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001000" y="3776472"/>
            <a:ext cx="4023360" cy="2377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00" b="0" i="0" u="none" strike="noStrike" spc="150">
                <a:solidFill>
                  <a:srgbClr val="9DC3E6"/>
                </a:solidFill>
                <a:latin typeface="Arial"/>
                <a:ea typeface="Arial"/>
                <a:cs typeface="Arial"/>
                <a:sym typeface="Arial"/>
              </a:rPr>
              <a:t>CORE INNOVATIONS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379208" y="4453128"/>
            <a:ext cx="384048" cy="384048"/>
          </a:xfrm>
          <a:prstGeom prst="ellipse">
            <a:avLst/>
          </a:prstGeom>
          <a:solidFill>
            <a:srgbClr val="7F7F7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7379208" y="4453128"/>
            <a:ext cx="384048" cy="38404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001000" y="4343400"/>
            <a:ext cx="4023360" cy="38404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技术方案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001000" y="4709160"/>
            <a:ext cx="4023360" cy="2377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00" b="0" i="0" u="none" strike="noStrike" spc="150">
                <a:solidFill>
                  <a:srgbClr val="9DC3E6"/>
                </a:solidFill>
                <a:latin typeface="Arial"/>
                <a:ea typeface="Arial"/>
                <a:cs typeface="Arial"/>
                <a:sym typeface="Arial"/>
              </a:rPr>
              <a:t>TECHNICAL APPROACH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379208" y="5385816"/>
            <a:ext cx="384048" cy="384048"/>
          </a:xfrm>
          <a:prstGeom prst="ellipse">
            <a:avLst/>
          </a:prstGeom>
          <a:solidFill>
            <a:srgbClr val="7F7F7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7379208" y="5385816"/>
            <a:ext cx="384048" cy="38404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001000" y="5276088"/>
            <a:ext cx="4023360" cy="38404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作品价值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001000" y="5641848"/>
            <a:ext cx="4023360" cy="2377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00" b="0" i="0" u="none" strike="noStrike" spc="150">
                <a:solidFill>
                  <a:srgbClr val="9DC3E6"/>
                </a:solidFill>
                <a:latin typeface="Arial"/>
                <a:ea typeface="Arial"/>
                <a:cs typeface="Arial"/>
                <a:sym typeface="Arial"/>
              </a:rPr>
              <a:t>VALUE &amp; OUTLOOK</a:t>
            </a:r>
            <a:endParaRPr lang="en-US" sz="1100"/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22960" y="219456"/>
            <a:ext cx="6858000" cy="5029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000" b="0" i="0" u="none" strike="noStrike">
                <a:solidFill>
                  <a:srgbClr val="A6A6A6"/>
                </a:solidFill>
                <a:latin typeface="微软雅黑"/>
                <a:ea typeface="微软雅黑"/>
                <a:cs typeface="微软雅黑"/>
                <a:sym typeface="微软雅黑"/>
              </a:rPr>
              <a:t>01 需求分析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822960" y="731520"/>
            <a:ext cx="6858000" cy="2560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00" b="0" i="0" u="none" strike="noStrike" spc="200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ZHIXUEBAN · AI LEARNING COMPANION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822960" y="1024128"/>
            <a:ext cx="11210544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300" b="1" i="0" u="none" strike="noStrike">
                <a:solidFill>
                  <a:srgbClr val="0C2744"/>
                </a:solidFill>
                <a:latin typeface="微软雅黑"/>
                <a:ea typeface="微软雅黑"/>
                <a:cs typeface="微软雅黑"/>
                <a:sym typeface="微软雅黑"/>
              </a:rPr>
              <a:t>大学生学习的四大核心痛点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822960" y="1481328"/>
            <a:ext cx="11210544" cy="29260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50" b="0" i="0" u="none" strike="noStrike">
                <a:solidFill>
                  <a:srgbClr val="8C8C8C"/>
                </a:solidFill>
                <a:latin typeface="微软雅黑"/>
                <a:ea typeface="微软雅黑"/>
                <a:cs typeface="微软雅黑"/>
                <a:sym typeface="微软雅黑"/>
              </a:rPr>
              <a:t>基础课程难度高、答疑资源稀缺，自主学习普遍缺乏支撑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822960" y="2011680"/>
            <a:ext cx="822960" cy="713232"/>
          </a:xfrm>
          <a:prstGeom prst="roundRect">
            <a:avLst>
              <a:gd name="adj" fmla="val 10255"/>
            </a:avLst>
          </a:prstGeom>
          <a:solidFill>
            <a:srgbClr val="0C2744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822960" y="2011680"/>
            <a:ext cx="822960" cy="7132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22960" y="2880360"/>
            <a:ext cx="2670048" cy="2148840"/>
          </a:xfrm>
          <a:prstGeom prst="roundRect">
            <a:avLst>
              <a:gd name="adj" fmla="val 3404"/>
            </a:avLst>
          </a:prstGeom>
          <a:solidFill>
            <a:srgbClr val="E8E8E8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987552" y="3035808"/>
            <a:ext cx="2340864" cy="3657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50" b="1" i="0" u="none" strike="noStrike">
                <a:solidFill>
                  <a:srgbClr val="0C2744"/>
                </a:solidFill>
                <a:latin typeface="微软雅黑"/>
                <a:ea typeface="微软雅黑"/>
                <a:cs typeface="微软雅黑"/>
                <a:sym typeface="微软雅黑"/>
              </a:rPr>
              <a:t>答疑不及时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87552" y="3456432"/>
            <a:ext cx="2340864" cy="1463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150" b="0" i="0" u="none" strike="noStrike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课后学习时间分散，课堂答疑受时空限制，问题长期积累导致知识漏洞扩大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675888" y="2011680"/>
            <a:ext cx="822960" cy="713232"/>
          </a:xfrm>
          <a:prstGeom prst="roundRect">
            <a:avLst>
              <a:gd name="adj" fmla="val 10255"/>
            </a:avLst>
          </a:prstGeom>
          <a:solidFill>
            <a:srgbClr val="7F7F7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3675888" y="2011680"/>
            <a:ext cx="822960" cy="7132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675888" y="2880360"/>
            <a:ext cx="2670048" cy="2148840"/>
          </a:xfrm>
          <a:prstGeom prst="roundRect">
            <a:avLst>
              <a:gd name="adj" fmla="val 3404"/>
            </a:avLst>
          </a:prstGeom>
          <a:solidFill>
            <a:srgbClr val="E8E8E8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3840480" y="3035808"/>
            <a:ext cx="2340864" cy="3657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50" b="1" i="0" u="none" strike="noStrike">
                <a:solidFill>
                  <a:srgbClr val="0C2744"/>
                </a:solidFill>
                <a:latin typeface="微软雅黑"/>
                <a:ea typeface="微软雅黑"/>
                <a:cs typeface="微软雅黑"/>
                <a:sym typeface="微软雅黑"/>
              </a:rPr>
              <a:t>学习无规划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3840480" y="3456432"/>
            <a:ext cx="2340864" cy="1463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150" b="0" i="0" u="none" strike="noStrike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缺乏对知识掌握情况的客观评估，难以识别薄弱环节，盲目刷题效率低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528816" y="2011680"/>
            <a:ext cx="822960" cy="713232"/>
          </a:xfrm>
          <a:prstGeom prst="roundRect">
            <a:avLst>
              <a:gd name="adj" fmla="val 10255"/>
            </a:avLst>
          </a:prstGeom>
          <a:solidFill>
            <a:srgbClr val="0C2744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528816" y="2011680"/>
            <a:ext cx="822960" cy="7132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528816" y="2880360"/>
            <a:ext cx="2670048" cy="2148840"/>
          </a:xfrm>
          <a:prstGeom prst="roundRect">
            <a:avLst>
              <a:gd name="adj" fmla="val 3404"/>
            </a:avLst>
          </a:prstGeom>
          <a:solidFill>
            <a:srgbClr val="E8E8E8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6693408" y="3035808"/>
            <a:ext cx="2340864" cy="3657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50" b="1" i="0" u="none" strike="noStrike">
                <a:solidFill>
                  <a:srgbClr val="0C2744"/>
                </a:solidFill>
                <a:latin typeface="微软雅黑"/>
                <a:ea typeface="微软雅黑"/>
                <a:cs typeface="微软雅黑"/>
                <a:sym typeface="微软雅黑"/>
              </a:rPr>
              <a:t>批改反馈慢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693408" y="3456432"/>
            <a:ext cx="2340864" cy="1463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150" b="0" i="0" u="none" strike="noStrike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作业批改周期长，助教通常只给对错判断，难以详细分析错误原因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9381744" y="2011680"/>
            <a:ext cx="822960" cy="713232"/>
          </a:xfrm>
          <a:prstGeom prst="roundRect">
            <a:avLst>
              <a:gd name="adj" fmla="val 10255"/>
            </a:avLst>
          </a:prstGeom>
          <a:solidFill>
            <a:srgbClr val="7F7F7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9381744" y="2011680"/>
            <a:ext cx="822960" cy="7132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9381744" y="2880360"/>
            <a:ext cx="2670048" cy="2148840"/>
          </a:xfrm>
          <a:prstGeom prst="roundRect">
            <a:avLst>
              <a:gd name="adj" fmla="val 3404"/>
            </a:avLst>
          </a:prstGeom>
          <a:solidFill>
            <a:srgbClr val="E8E8E8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9546336" y="3035808"/>
            <a:ext cx="2340864" cy="3657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50" b="1" i="0" u="none" strike="noStrike">
                <a:solidFill>
                  <a:srgbClr val="0C2744"/>
                </a:solidFill>
                <a:latin typeface="微软雅黑"/>
                <a:ea typeface="微软雅黑"/>
                <a:cs typeface="微软雅黑"/>
                <a:sym typeface="微软雅黑"/>
              </a:rPr>
              <a:t>学习缺陪伴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9546336" y="3456432"/>
            <a:ext cx="2340864" cy="1463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150" b="0" i="0" u="none" strike="noStrike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基础课程难度大，遇挫易产生挫败感，缺乏情感支持与学习动机激发</a:t>
            </a:r>
            <a:endParaRPr lang="en-US" sz="1100"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3"/>
          <a:srcRect t="41125" b="41125"/>
          <a:stretch>
            <a:fillRect/>
          </a:stretch>
        </p:blipFill>
        <p:spPr>
          <a:xfrm>
            <a:off x="822960" y="5303520"/>
            <a:ext cx="11210544" cy="132588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22960" y="219456"/>
            <a:ext cx="6858000" cy="5029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000" b="0" i="0" u="none" strike="noStrike">
                <a:solidFill>
                  <a:srgbClr val="A6A6A6"/>
                </a:solidFill>
                <a:latin typeface="微软雅黑"/>
                <a:ea typeface="微软雅黑"/>
                <a:cs typeface="微软雅黑"/>
                <a:sym typeface="微软雅黑"/>
              </a:rPr>
              <a:t>01 需求分析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822960" y="731520"/>
            <a:ext cx="6858000" cy="2560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00" b="0" i="0" u="none" strike="noStrike" spc="200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ZHIXUEBAN · AI LEARNING COMPANION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822960" y="1024128"/>
            <a:ext cx="11210544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300" b="1" i="0" u="none" strike="noStrike">
                <a:solidFill>
                  <a:srgbClr val="0C2744"/>
                </a:solidFill>
                <a:latin typeface="微软雅黑"/>
                <a:ea typeface="微软雅黑"/>
                <a:cs typeface="微软雅黑"/>
                <a:sym typeface="微软雅黑"/>
              </a:rPr>
              <a:t>竞品对比与差异化定位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822960" y="1481328"/>
            <a:ext cx="11210544" cy="29260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50" b="0" i="0" u="none" strike="noStrike">
                <a:solidFill>
                  <a:srgbClr val="8C8C8C"/>
                </a:solidFill>
                <a:latin typeface="微软雅黑"/>
                <a:ea typeface="微软雅黑"/>
                <a:cs typeface="微软雅黑"/>
                <a:sym typeface="微软雅黑"/>
              </a:rPr>
              <a:t>关键一问：为什么不直接用免费的通用大模型聊天？</a:t>
            </a:r>
            <a:endParaRPr lang="en-US" sz="1100"/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822960" y="2011680"/>
          <a:ext cx="11210544" cy="371602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8836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150" b="1" i="0" u="none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对比维度</a:t>
                      </a:r>
                      <a:endParaRPr lang="en-US" sz="1100"/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74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150" b="1" i="0" u="none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传统题库</a:t>
                      </a:r>
                      <a:endParaRPr lang="en-US" sz="1100"/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74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150" b="1" i="0" u="none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搜题 APP</a:t>
                      </a:r>
                      <a:endParaRPr lang="en-US" sz="1100"/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74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150" b="1" i="0" u="none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通用大模型聊天</a:t>
                      </a:r>
                      <a:endParaRPr lang="en-US" sz="1100"/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74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150" b="1" i="0" u="none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智学伴</a:t>
                      </a:r>
                      <a:endParaRPr lang="en-US" sz="1100"/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744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答疑方式</a:t>
                      </a:r>
                      <a:endParaRPr lang="en-US" sz="1100"/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无</a:t>
                      </a:r>
                      <a:endParaRPr lang="en-US" sz="1100"/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仅给答案</a:t>
                      </a:r>
                      <a:endParaRPr lang="en-US" sz="1100"/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直接给答案</a:t>
                      </a:r>
                      <a:endParaRPr lang="en-US" sz="1100"/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0C2744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苏格拉底引导·不直接给答案</a:t>
                      </a:r>
                      <a:endParaRPr lang="en-US" sz="1100"/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B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思维培养</a:t>
                      </a:r>
                      <a:endParaRPr lang="en-US" sz="1100"/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无</a:t>
                      </a:r>
                      <a:endParaRPr lang="en-US" sz="1100"/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无</a:t>
                      </a:r>
                      <a:endParaRPr lang="en-US" sz="1100"/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默认直接给答案；是否引导取决于用户怎么问，且无教学策略与批改闭环</a:t>
                      </a:r>
                      <a:endParaRPr lang="en-US" sz="1100"/>
                    </a:p>
                  </a:txBody>
                  <a:tcPr marT="6350" marB="635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0C2744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四步引导法·训练独立思考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B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个性化路径</a:t>
                      </a:r>
                      <a:endParaRPr lang="en-US" sz="1100"/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无</a:t>
                      </a:r>
                      <a:endParaRPr lang="en-US" sz="1100"/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弱</a:t>
                      </a:r>
                      <a:endParaRPr lang="en-US" sz="1100"/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无</a:t>
                      </a:r>
                      <a:endParaRPr lang="en-US" sz="1100"/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0C2744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错题驱动·前置依赖锁定</a:t>
                      </a:r>
                      <a:endParaRPr lang="en-US" sz="1100"/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B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批改-归因-推荐闭环</a:t>
                      </a:r>
                      <a:endParaRPr lang="en-US" sz="1100"/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无</a:t>
                      </a:r>
                      <a:endParaRPr lang="en-US" sz="1100"/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部分</a:t>
                      </a:r>
                      <a:endParaRPr lang="en-US" sz="1100"/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无</a:t>
                      </a:r>
                      <a:endParaRPr lang="en-US" sz="1100"/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0C2744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OCR 批改→诊断归因→推荐练习</a:t>
                      </a:r>
                      <a:endParaRPr lang="en-US" sz="1100"/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B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可解释性</a:t>
                      </a:r>
                      <a:endParaRPr lang="en-US" sz="1100"/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无</a:t>
                      </a:r>
                      <a:endParaRPr lang="en-US" sz="1100"/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无</a:t>
                      </a:r>
                      <a:endParaRPr lang="en-US" sz="1100"/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弱</a:t>
                      </a:r>
                      <a:endParaRPr lang="en-US" sz="1100"/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0C2744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思维链可视化+知识来源标注</a:t>
                      </a:r>
                      <a:endParaRPr lang="en-US" sz="1100"/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B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学习进度体系</a:t>
                      </a:r>
                      <a:endParaRPr lang="en-US" sz="1100"/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无</a:t>
                      </a:r>
                      <a:endParaRPr lang="en-US" sz="1100"/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弱</a:t>
                      </a:r>
                      <a:endParaRPr lang="en-US" sz="1100"/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无</a:t>
                      </a:r>
                      <a:endParaRPr lang="en-US" sz="1100"/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0C2744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13 主题 28 节点进度追踪</a:t>
                      </a:r>
                      <a:endParaRPr lang="en-US" sz="1100"/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B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数据隐私</a:t>
                      </a:r>
                      <a:endParaRPr lang="en-US" sz="1100"/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—</a:t>
                      </a:r>
                      <a:endParaRPr lang="en-US" sz="1100"/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云端留存</a:t>
                      </a:r>
                      <a:endParaRPr lang="en-US" sz="1100"/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上传服务商</a:t>
                      </a:r>
                      <a:endParaRPr lang="en-US" sz="1100"/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0C2744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学习数据仅存本地</a:t>
                      </a:r>
                      <a:endParaRPr lang="en-US" sz="1100"/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B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AutoShape 7"/>
          <p:cNvSpPr/>
          <p:nvPr/>
        </p:nvSpPr>
        <p:spPr>
          <a:xfrm>
            <a:off x="822960" y="5943600"/>
            <a:ext cx="11210544" cy="658368"/>
          </a:xfrm>
          <a:prstGeom prst="roundRect">
            <a:avLst>
              <a:gd name="adj" fmla="val 8332"/>
            </a:avLst>
          </a:prstGeom>
          <a:solidFill>
            <a:srgbClr val="FFF6E0">
              <a:alpha val="100000"/>
            </a:srgbClr>
          </a:solidFill>
          <a:ln w="12700">
            <a:solidFill>
              <a:srgbClr val="FFC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987552" y="5943600"/>
            <a:ext cx="10881360" cy="658368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 defTabSz="914400">
              <a:lnSpc>
                <a:spcPct val="116666"/>
              </a:lnSpc>
              <a:defRPr/>
            </a:pPr>
            <a:r>
              <a:rPr lang="en-US" sz="1100" b="1" i="0" u="none" strike="noStrike">
                <a:solidFill>
                  <a:srgbClr val="B8860B"/>
                </a:solidFill>
                <a:latin typeface="微软雅黑"/>
                <a:ea typeface="微软雅黑"/>
                <a:cs typeface="微软雅黑"/>
                <a:sym typeface="微软雅黑"/>
              </a:rPr>
              <a:t>声明 </a:t>
            </a:r>
            <a:r>
              <a:rPr lang="en-US" sz="1150" b="0" i="0" u="none" strike="noStrike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通用大模型能答题，但不引导思考、无批改闭环、无进度体系，且对话内容上传服务商。智学伴的差异在于「教你想」而非「替你做」——以苏格拉底引导+本地数据+学习闭环，把 AI 从答案机变成学习伙伴。</a:t>
            </a:r>
            <a:endParaRPr lang="en-US" sz="1100"/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22960" y="219456"/>
            <a:ext cx="6858000" cy="5029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000" b="0" i="0" u="none" strike="noStrike">
                <a:solidFill>
                  <a:srgbClr val="A6A6A6"/>
                </a:solidFill>
                <a:latin typeface="微软雅黑"/>
                <a:ea typeface="微软雅黑"/>
                <a:cs typeface="微软雅黑"/>
                <a:sym typeface="微软雅黑"/>
              </a:rPr>
              <a:t>02 解决方案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822960" y="731520"/>
            <a:ext cx="6858000" cy="2560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00" b="0" i="0" u="none" strike="noStrike" spc="200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ZHIXUEBAN · AI LEARNING COMPANION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822960" y="1024128"/>
            <a:ext cx="11210544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300" b="1" i="0" u="none" strike="noStrike">
                <a:solidFill>
                  <a:srgbClr val="0C2744"/>
                </a:solidFill>
                <a:latin typeface="微软雅黑"/>
                <a:ea typeface="微软雅黑"/>
                <a:cs typeface="微软雅黑"/>
                <a:sym typeface="微软雅黑"/>
              </a:rPr>
              <a:t>产品全景：一条学习旅程串起六大环节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822960" y="1481328"/>
            <a:ext cx="11210544" cy="29260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50" b="0" i="0" u="none" strike="noStrike">
                <a:solidFill>
                  <a:srgbClr val="8C8C8C"/>
                </a:solidFill>
                <a:latin typeface="微软雅黑"/>
                <a:ea typeface="微软雅黑"/>
                <a:cs typeface="微软雅黑"/>
                <a:sym typeface="微软雅黑"/>
              </a:rPr>
              <a:t>从「遇到难题」到「重拾信心」，智学伴陪伴完整学习闭环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216152" y="2514600"/>
            <a:ext cx="914400" cy="914400"/>
          </a:xfrm>
          <a:prstGeom prst="ellipse">
            <a:avLst/>
          </a:prstGeom>
          <a:solidFill>
            <a:srgbClr val="0C2744">
              <a:alpha val="100000"/>
            </a:srgbClr>
          </a:solidFill>
          <a:ln w="12700">
            <a:solidFill>
              <a:srgbClr val="00B0F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216152" y="2514600"/>
            <a:ext cx="914400" cy="914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3000" b="1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22960" y="3538728"/>
            <a:ext cx="1700784" cy="32918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0C2744"/>
                </a:solidFill>
                <a:latin typeface="微软雅黑"/>
                <a:ea typeface="微软雅黑"/>
                <a:cs typeface="微软雅黑"/>
                <a:sym typeface="微软雅黑"/>
              </a:rPr>
              <a:t>打开看板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22960" y="3886200"/>
            <a:ext cx="1700784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100" b="1" i="0" u="none" strike="noStrike">
                <a:solidFill>
                  <a:srgbClr val="00B0F0"/>
                </a:solidFill>
                <a:latin typeface="微软雅黑"/>
                <a:ea typeface="微软雅黑"/>
                <a:cs typeface="微软雅黑"/>
                <a:sym typeface="微软雅黑"/>
              </a:rPr>
              <a:t>学习看板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96112" y="4215384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EAF3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896112" y="4215384"/>
            <a:ext cx="1554480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950" b="0" i="0" u="none" strike="noStrike">
                <a:solidFill>
                  <a:srgbClr val="0C2744"/>
                </a:solidFill>
                <a:latin typeface="微软雅黑"/>
                <a:ea typeface="微软雅黑"/>
                <a:cs typeface="微软雅黑"/>
                <a:sym typeface="微软雅黑"/>
              </a:rPr>
              <a:t>课后自主学习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2304288" y="2862072"/>
            <a:ext cx="502920" cy="21945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9D9D9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3108960" y="2514600"/>
            <a:ext cx="914400" cy="914400"/>
          </a:xfrm>
          <a:prstGeom prst="ellipse">
            <a:avLst/>
          </a:prstGeom>
          <a:solidFill>
            <a:srgbClr val="7F7F7F">
              <a:alpha val="100000"/>
            </a:srgbClr>
          </a:solidFill>
          <a:ln w="12700">
            <a:solidFill>
              <a:srgbClr val="00B0F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3108960" y="2514600"/>
            <a:ext cx="914400" cy="914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3000" b="1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2715768" y="3538728"/>
            <a:ext cx="1700784" cy="32918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0C2744"/>
                </a:solidFill>
                <a:latin typeface="微软雅黑"/>
                <a:ea typeface="微软雅黑"/>
                <a:cs typeface="微软雅黑"/>
                <a:sym typeface="微软雅黑"/>
              </a:rPr>
              <a:t>遇到难题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2715768" y="3886200"/>
            <a:ext cx="1700784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100" b="1" i="0" u="none" strike="noStrike">
                <a:solidFill>
                  <a:srgbClr val="00B0F0"/>
                </a:solidFill>
                <a:latin typeface="微软雅黑"/>
                <a:ea typeface="微软雅黑"/>
                <a:cs typeface="微软雅黑"/>
                <a:sym typeface="微软雅黑"/>
              </a:rPr>
              <a:t>AI 答疑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2788920" y="4215384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EAF3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2788920" y="4215384"/>
            <a:ext cx="1554480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950" b="0" i="0" u="none" strike="noStrike">
                <a:solidFill>
                  <a:srgbClr val="0C2744"/>
                </a:solidFill>
                <a:latin typeface="微软雅黑"/>
                <a:ea typeface="微软雅黑"/>
                <a:cs typeface="微软雅黑"/>
                <a:sym typeface="微软雅黑"/>
              </a:rPr>
              <a:t>引导式提问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4197096" y="2862072"/>
            <a:ext cx="502920" cy="21945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9D9D9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5001768" y="2514600"/>
            <a:ext cx="914400" cy="914400"/>
          </a:xfrm>
          <a:prstGeom prst="ellipse">
            <a:avLst/>
          </a:prstGeom>
          <a:solidFill>
            <a:srgbClr val="0C2744">
              <a:alpha val="100000"/>
            </a:srgbClr>
          </a:solidFill>
          <a:ln w="12700">
            <a:solidFill>
              <a:srgbClr val="00B0F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5001768" y="2514600"/>
            <a:ext cx="914400" cy="914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3000" b="1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4608576" y="3538728"/>
            <a:ext cx="1700784" cy="32918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0C2744"/>
                </a:solidFill>
                <a:latin typeface="微软雅黑"/>
                <a:ea typeface="微软雅黑"/>
                <a:cs typeface="微软雅黑"/>
                <a:sym typeface="微软雅黑"/>
              </a:rPr>
              <a:t>规划路径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4608576" y="3886200"/>
            <a:ext cx="1700784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100" b="1" i="0" u="none" strike="noStrike">
                <a:solidFill>
                  <a:srgbClr val="00B0F0"/>
                </a:solidFill>
                <a:latin typeface="微软雅黑"/>
                <a:ea typeface="微软雅黑"/>
                <a:cs typeface="微软雅黑"/>
                <a:sym typeface="微软雅黑"/>
              </a:rPr>
              <a:t>学习路径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4681728" y="4215384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EAF3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4681728" y="4215384"/>
            <a:ext cx="1554480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950" b="0" i="0" u="none" strike="noStrike">
                <a:solidFill>
                  <a:srgbClr val="0C2744"/>
                </a:solidFill>
                <a:latin typeface="微软雅黑"/>
                <a:ea typeface="微软雅黑"/>
                <a:cs typeface="微软雅黑"/>
                <a:sym typeface="微软雅黑"/>
              </a:rPr>
              <a:t>个性化规划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089904" y="2862072"/>
            <a:ext cx="502920" cy="21945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9D9D9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6894576" y="2514600"/>
            <a:ext cx="914400" cy="914400"/>
          </a:xfrm>
          <a:prstGeom prst="ellipse">
            <a:avLst/>
          </a:prstGeom>
          <a:solidFill>
            <a:srgbClr val="7F7F7F">
              <a:alpha val="100000"/>
            </a:srgbClr>
          </a:solidFill>
          <a:ln w="12700">
            <a:solidFill>
              <a:srgbClr val="00B0F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8" name="AutoShape 28"/>
          <p:cNvSpPr/>
          <p:nvPr/>
        </p:nvSpPr>
        <p:spPr>
          <a:xfrm>
            <a:off x="6894576" y="2514600"/>
            <a:ext cx="914400" cy="914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3000" b="1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501384" y="3538728"/>
            <a:ext cx="1700784" cy="32918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0C2744"/>
                </a:solidFill>
                <a:latin typeface="微软雅黑"/>
                <a:ea typeface="微软雅黑"/>
                <a:cs typeface="微软雅黑"/>
                <a:sym typeface="微软雅黑"/>
              </a:rPr>
              <a:t>拍照批改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6501384" y="3886200"/>
            <a:ext cx="1700784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100" b="1" i="0" u="none" strike="noStrike">
                <a:solidFill>
                  <a:srgbClr val="00B0F0"/>
                </a:solidFill>
                <a:latin typeface="微软雅黑"/>
                <a:ea typeface="微软雅黑"/>
                <a:cs typeface="微软雅黑"/>
                <a:sym typeface="微软雅黑"/>
              </a:rPr>
              <a:t>作业批改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6574536" y="4215384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EAF3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32" name="AutoShape 32"/>
          <p:cNvSpPr/>
          <p:nvPr/>
        </p:nvSpPr>
        <p:spPr>
          <a:xfrm>
            <a:off x="6574536" y="4215384"/>
            <a:ext cx="1554480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950" b="0" i="0" u="none" strike="noStrike">
                <a:solidFill>
                  <a:srgbClr val="0C2744"/>
                </a:solidFill>
                <a:latin typeface="微软雅黑"/>
                <a:ea typeface="微软雅黑"/>
                <a:cs typeface="微软雅黑"/>
                <a:sym typeface="微软雅黑"/>
              </a:rPr>
              <a:t>错题整理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7982712" y="2862072"/>
            <a:ext cx="502920" cy="21945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9D9D9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34" name="AutoShape 34"/>
          <p:cNvSpPr/>
          <p:nvPr/>
        </p:nvSpPr>
        <p:spPr>
          <a:xfrm>
            <a:off x="8787384" y="2514600"/>
            <a:ext cx="914400" cy="914400"/>
          </a:xfrm>
          <a:prstGeom prst="ellipse">
            <a:avLst/>
          </a:prstGeom>
          <a:solidFill>
            <a:srgbClr val="0C2744">
              <a:alpha val="100000"/>
            </a:srgbClr>
          </a:solidFill>
          <a:ln w="12700">
            <a:solidFill>
              <a:srgbClr val="00B0F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35" name="AutoShape 35"/>
          <p:cNvSpPr/>
          <p:nvPr/>
        </p:nvSpPr>
        <p:spPr>
          <a:xfrm>
            <a:off x="8787384" y="2514600"/>
            <a:ext cx="914400" cy="914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3000" b="1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8394192" y="3538728"/>
            <a:ext cx="1700784" cy="32918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0C2744"/>
                </a:solidFill>
                <a:latin typeface="微软雅黑"/>
                <a:ea typeface="微软雅黑"/>
                <a:cs typeface="微软雅黑"/>
                <a:sym typeface="微软雅黑"/>
              </a:rPr>
              <a:t>查看分析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8394192" y="3886200"/>
            <a:ext cx="1700784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100" b="1" i="0" u="none" strike="noStrike">
                <a:solidFill>
                  <a:srgbClr val="00B0F0"/>
                </a:solidFill>
                <a:latin typeface="微软雅黑"/>
                <a:ea typeface="微软雅黑"/>
                <a:cs typeface="微软雅黑"/>
                <a:sym typeface="微软雅黑"/>
              </a:rPr>
              <a:t>数据分析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8467344" y="4215384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EAF3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39" name="AutoShape 39"/>
          <p:cNvSpPr/>
          <p:nvPr/>
        </p:nvSpPr>
        <p:spPr>
          <a:xfrm>
            <a:off x="8467344" y="4215384"/>
            <a:ext cx="1554480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950" b="0" i="0" u="none" strike="noStrike">
                <a:solidFill>
                  <a:srgbClr val="0C2744"/>
                </a:solidFill>
                <a:latin typeface="微软雅黑"/>
                <a:ea typeface="微软雅黑"/>
                <a:cs typeface="微软雅黑"/>
                <a:sym typeface="微软雅黑"/>
              </a:rPr>
              <a:t>查漏补缺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9875520" y="2862072"/>
            <a:ext cx="502920" cy="21945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9D9D9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41" name="AutoShape 41"/>
          <p:cNvSpPr/>
          <p:nvPr/>
        </p:nvSpPr>
        <p:spPr>
          <a:xfrm>
            <a:off x="10680192" y="2514600"/>
            <a:ext cx="914400" cy="914400"/>
          </a:xfrm>
          <a:prstGeom prst="ellipse">
            <a:avLst/>
          </a:prstGeom>
          <a:solidFill>
            <a:srgbClr val="7F7F7F">
              <a:alpha val="100000"/>
            </a:srgbClr>
          </a:solidFill>
          <a:ln w="12700">
            <a:solidFill>
              <a:srgbClr val="00B0F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42" name="AutoShape 42"/>
          <p:cNvSpPr/>
          <p:nvPr/>
        </p:nvSpPr>
        <p:spPr>
          <a:xfrm>
            <a:off x="10680192" y="2514600"/>
            <a:ext cx="914400" cy="914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3000" b="1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lang="en-US" sz="1100"/>
          </a:p>
        </p:txBody>
      </p:sp>
      <p:sp>
        <p:nvSpPr>
          <p:cNvPr id="43" name="AutoShape 43"/>
          <p:cNvSpPr/>
          <p:nvPr/>
        </p:nvSpPr>
        <p:spPr>
          <a:xfrm>
            <a:off x="10287000" y="3538728"/>
            <a:ext cx="1700784" cy="32918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0C2744"/>
                </a:solidFill>
                <a:latin typeface="微软雅黑"/>
                <a:ea typeface="微软雅黑"/>
                <a:cs typeface="微软雅黑"/>
                <a:sym typeface="微软雅黑"/>
              </a:rPr>
              <a:t>情感陪伴</a:t>
            </a:r>
            <a:endParaRPr lang="en-US" sz="1100"/>
          </a:p>
        </p:txBody>
      </p:sp>
      <p:sp>
        <p:nvSpPr>
          <p:cNvPr id="44" name="AutoShape 44"/>
          <p:cNvSpPr/>
          <p:nvPr/>
        </p:nvSpPr>
        <p:spPr>
          <a:xfrm>
            <a:off x="10287000" y="3886200"/>
            <a:ext cx="1700784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100" b="1" i="0" u="none" strike="noStrike">
                <a:solidFill>
                  <a:srgbClr val="00B0F0"/>
                </a:solidFill>
                <a:latin typeface="微软雅黑"/>
                <a:ea typeface="微软雅黑"/>
                <a:cs typeface="微软雅黑"/>
                <a:sym typeface="微软雅黑"/>
              </a:rPr>
              <a:t>情感 Agent</a:t>
            </a:r>
            <a:endParaRPr lang="en-US" sz="1100"/>
          </a:p>
        </p:txBody>
      </p:sp>
      <p:sp>
        <p:nvSpPr>
          <p:cNvPr id="45" name="AutoShape 45"/>
          <p:cNvSpPr/>
          <p:nvPr/>
        </p:nvSpPr>
        <p:spPr>
          <a:xfrm>
            <a:off x="10360152" y="4215384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EAF3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46" name="AutoShape 46"/>
          <p:cNvSpPr/>
          <p:nvPr/>
        </p:nvSpPr>
        <p:spPr>
          <a:xfrm>
            <a:off x="10360152" y="4215384"/>
            <a:ext cx="1554480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950" b="0" i="0" u="none" strike="noStrike">
                <a:solidFill>
                  <a:srgbClr val="0C2744"/>
                </a:solidFill>
                <a:latin typeface="微软雅黑"/>
                <a:ea typeface="微软雅黑"/>
                <a:cs typeface="微软雅黑"/>
                <a:sym typeface="微软雅黑"/>
              </a:rPr>
              <a:t>减压陪伴</a:t>
            </a:r>
            <a:endParaRPr lang="en-US" sz="1100"/>
          </a:p>
        </p:txBody>
      </p:sp>
      <p:sp>
        <p:nvSpPr>
          <p:cNvPr id="47" name="AutoShape 47"/>
          <p:cNvSpPr/>
          <p:nvPr/>
        </p:nvSpPr>
        <p:spPr>
          <a:xfrm>
            <a:off x="822960" y="5029200"/>
            <a:ext cx="11210544" cy="457200"/>
          </a:xfrm>
          <a:prstGeom prst="roundRect">
            <a:avLst>
              <a:gd name="adj" fmla="val 0"/>
            </a:avLst>
          </a:prstGeom>
          <a:solidFill>
            <a:srgbClr val="EAF3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0C2744"/>
                </a:solidFill>
                <a:latin typeface="微软雅黑"/>
                <a:ea typeface="微软雅黑"/>
                <a:cs typeface="微软雅黑"/>
                <a:sym typeface="微软雅黑"/>
              </a:rPr>
              <a:t>六大环节沿学习旅程依次展开：看板发现问题 → 答疑解决问题 → 路径规划 → 批改归因 → 数据复盘 → 情感陪伴，形成完整学习闭环</a:t>
            </a:r>
            <a:endParaRPr lang="en-US" sz="1100"/>
          </a:p>
        </p:txBody>
      </p:sp>
      <p:sp>
        <p:nvSpPr>
          <p:cNvPr id="48" name="AutoShape 48"/>
          <p:cNvSpPr/>
          <p:nvPr/>
        </p:nvSpPr>
        <p:spPr>
          <a:xfrm>
            <a:off x="822960" y="5806440"/>
            <a:ext cx="11210544" cy="457200"/>
          </a:xfrm>
          <a:prstGeom prst="rect">
            <a:avLst/>
          </a:prstGeom>
          <a:solidFill>
            <a:srgbClr val="0C2744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25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四大应用场景：课后自主学习 ｜ 作业批改与错题整理 ｜ 个性化学习规划 ｜ 学习情感陪伴与减压</a:t>
            </a:r>
            <a:endParaRPr lang="en-US" sz="110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childTnLst>
                        <p:par>
                          <p:cTn id="27" fill="hold">
                            <p:childTnLst>
                              <p:par>
                                <p:cTn id="28" presetID="10" presetClass="entr" presetSubtype="0" repeatCount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childTnLst>
                        <p:par>
                          <p:cTn id="50" fill="hold">
                            <p:childTnLst>
                              <p:par>
                                <p:cTn id="51" presetID="10" presetClass="entr" presetSubtype="0" repeatCount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childTnLst>
                        <p:par>
                          <p:cTn id="73" fill="hold">
                            <p:childTnLst>
                              <p:par>
                                <p:cTn id="74" presetID="10" presetClass="entr" presetSubtype="0" repeatCount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childTnLst>
                        <p:par>
                          <p:cTn id="96" fill="hold">
                            <p:childTnLst>
                              <p:par>
                                <p:cTn id="97" presetID="10" presetClass="entr" presetSubtype="0" repeatCount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3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3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3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3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childTnLst>
                        <p:par>
                          <p:cTn id="119" fill="hold">
                            <p:childTnLst>
                              <p:par>
                                <p:cTn id="120" presetID="10" presetClass="entr" presetSubtype="0" repeatCount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3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3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3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3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3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3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22960" y="219456"/>
            <a:ext cx="6858000" cy="5029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000" b="0" i="0" u="none" strike="noStrike">
                <a:solidFill>
                  <a:srgbClr val="A6A6A6"/>
                </a:solidFill>
                <a:latin typeface="微软雅黑"/>
                <a:ea typeface="微软雅黑"/>
                <a:cs typeface="微软雅黑"/>
                <a:sym typeface="微软雅黑"/>
              </a:rPr>
              <a:t>02 解决方案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822960" y="731520"/>
            <a:ext cx="6858000" cy="2560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00" b="0" i="0" u="none" strike="noStrike" spc="200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ZHIXUEBAN · AI LEARNING COMPANION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822960" y="1024128"/>
            <a:ext cx="11210544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300" b="1" i="0" u="none" strike="noStrike">
                <a:solidFill>
                  <a:srgbClr val="0C2744"/>
                </a:solidFill>
                <a:latin typeface="微软雅黑"/>
                <a:ea typeface="微软雅黑"/>
                <a:cs typeface="微软雅黑"/>
                <a:sym typeface="微软雅黑"/>
              </a:rPr>
              <a:t>产品原型展示（一）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822960" y="1481328"/>
            <a:ext cx="11210544" cy="29260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50" b="0" i="0" u="none" strike="noStrike">
                <a:solidFill>
                  <a:srgbClr val="8C8C8C"/>
                </a:solidFill>
                <a:latin typeface="微软雅黑"/>
                <a:ea typeface="微软雅黑"/>
                <a:cs typeface="微软雅黑"/>
                <a:sym typeface="微软雅黑"/>
              </a:rPr>
              <a:t>以下为产品真实运行界面截图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22960" y="1965960"/>
            <a:ext cx="3611880" cy="25146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7" name="AutoShape 7"/>
          <p:cNvSpPr/>
          <p:nvPr/>
        </p:nvSpPr>
        <p:spPr>
          <a:xfrm>
            <a:off x="822960" y="4480560"/>
            <a:ext cx="3611880" cy="36576"/>
          </a:xfrm>
          <a:prstGeom prst="rect">
            <a:avLst/>
          </a:prstGeom>
          <a:solidFill>
            <a:srgbClr val="00B0F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822960" y="4617720"/>
            <a:ext cx="3611880" cy="32918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0C2744"/>
                </a:solidFill>
                <a:latin typeface="微软雅黑"/>
                <a:ea typeface="微软雅黑"/>
                <a:cs typeface="微软雅黑"/>
                <a:sym typeface="微软雅黑"/>
              </a:rPr>
              <a:t>学习看板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22960" y="4956048"/>
            <a:ext cx="3611880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8333"/>
              </a:lnSpc>
              <a:defRPr/>
            </a:pPr>
            <a:r>
              <a:rPr lang="en-US" sz="1100" b="0" i="0" u="none" strike="noStrike">
                <a:solidFill>
                  <a:srgbClr val="8C8C8C"/>
                </a:solidFill>
                <a:latin typeface="微软雅黑"/>
                <a:ea typeface="微软雅黑"/>
                <a:cs typeface="微软雅黑"/>
                <a:sym typeface="微软雅黑"/>
              </a:rPr>
              <a:t>五智能体状态+核心数据+AI 推荐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617720" y="1965960"/>
            <a:ext cx="3611880" cy="25146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11" name="AutoShape 11"/>
          <p:cNvSpPr/>
          <p:nvPr/>
        </p:nvSpPr>
        <p:spPr>
          <a:xfrm>
            <a:off x="4617720" y="4480560"/>
            <a:ext cx="3611880" cy="36576"/>
          </a:xfrm>
          <a:prstGeom prst="rect">
            <a:avLst/>
          </a:prstGeom>
          <a:solidFill>
            <a:srgbClr val="00B0F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4617720" y="4617720"/>
            <a:ext cx="3611880" cy="32918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0C2744"/>
                </a:solidFill>
                <a:latin typeface="微软雅黑"/>
                <a:ea typeface="微软雅黑"/>
                <a:cs typeface="微软雅黑"/>
                <a:sym typeface="微软雅黑"/>
              </a:rPr>
              <a:t>AI 答疑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617720" y="4956048"/>
            <a:ext cx="3611880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8333"/>
              </a:lnSpc>
              <a:defRPr/>
            </a:pPr>
            <a:r>
              <a:rPr lang="en-US" sz="1100" b="0" i="0" u="none" strike="noStrike">
                <a:solidFill>
                  <a:srgbClr val="8C8C8C"/>
                </a:solidFill>
                <a:latin typeface="微软雅黑"/>
                <a:ea typeface="微软雅黑"/>
                <a:cs typeface="微软雅黑"/>
                <a:sym typeface="微软雅黑"/>
              </a:rPr>
              <a:t>三模式切换·苏格拉底引导对话</a:t>
            </a:r>
            <a:endParaRPr lang="en-US" sz="1100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8412480" y="1965960"/>
            <a:ext cx="3611880" cy="25146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15" name="AutoShape 15"/>
          <p:cNvSpPr/>
          <p:nvPr/>
        </p:nvSpPr>
        <p:spPr>
          <a:xfrm>
            <a:off x="8412480" y="4480560"/>
            <a:ext cx="3611880" cy="36576"/>
          </a:xfrm>
          <a:prstGeom prst="rect">
            <a:avLst/>
          </a:prstGeom>
          <a:solidFill>
            <a:srgbClr val="00B0F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8412480" y="4617720"/>
            <a:ext cx="3611880" cy="32918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0C2744"/>
                </a:solidFill>
                <a:latin typeface="微软雅黑"/>
                <a:ea typeface="微软雅黑"/>
                <a:cs typeface="微软雅黑"/>
                <a:sym typeface="微软雅黑"/>
              </a:rPr>
              <a:t>学习路径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412480" y="4956048"/>
            <a:ext cx="3611880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8333"/>
              </a:lnSpc>
              <a:defRPr/>
            </a:pPr>
            <a:r>
              <a:rPr lang="en-US" sz="1100" b="0" i="0" u="none" strike="noStrike">
                <a:solidFill>
                  <a:srgbClr val="8C8C8C"/>
                </a:solidFill>
                <a:latin typeface="微软雅黑"/>
                <a:ea typeface="微软雅黑"/>
                <a:cs typeface="微软雅黑"/>
                <a:sym typeface="微软雅黑"/>
              </a:rPr>
              <a:t>13 主题 28 节点规划与进度</a:t>
            </a:r>
            <a:endParaRPr lang="en-US" sz="1100"/>
          </a:p>
        </p:txBody>
      </p:sp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22960" y="219456"/>
            <a:ext cx="6858000" cy="5029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000" b="0" i="0" u="none" strike="noStrike">
                <a:solidFill>
                  <a:srgbClr val="A6A6A6"/>
                </a:solidFill>
                <a:latin typeface="微软雅黑"/>
                <a:ea typeface="微软雅黑"/>
                <a:cs typeface="微软雅黑"/>
                <a:sym typeface="微软雅黑"/>
              </a:rPr>
              <a:t>02 解决方案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822960" y="731520"/>
            <a:ext cx="6858000" cy="2560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00" b="0" i="0" u="none" strike="noStrike" spc="200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ZHIXUEBAN · AI LEARNING COMPANION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822960" y="1024128"/>
            <a:ext cx="11210544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300" b="1" i="0" u="none" strike="noStrike">
                <a:solidFill>
                  <a:srgbClr val="0C2744"/>
                </a:solidFill>
                <a:latin typeface="微软雅黑"/>
                <a:ea typeface="微软雅黑"/>
                <a:cs typeface="微软雅黑"/>
                <a:sym typeface="微软雅黑"/>
              </a:rPr>
              <a:t>产品原型展示（二）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822960" y="1481328"/>
            <a:ext cx="11210544" cy="29260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50" b="0" i="0" u="none" strike="noStrike">
                <a:solidFill>
                  <a:srgbClr val="8C8C8C"/>
                </a:solidFill>
                <a:latin typeface="微软雅黑"/>
                <a:ea typeface="微软雅黑"/>
                <a:cs typeface="微软雅黑"/>
                <a:sym typeface="微软雅黑"/>
              </a:rPr>
              <a:t>以下为产品真实运行界面截图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22960" y="1965960"/>
            <a:ext cx="3611880" cy="25146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7" name="AutoShape 7"/>
          <p:cNvSpPr/>
          <p:nvPr/>
        </p:nvSpPr>
        <p:spPr>
          <a:xfrm>
            <a:off x="822960" y="4480560"/>
            <a:ext cx="3611880" cy="36576"/>
          </a:xfrm>
          <a:prstGeom prst="rect">
            <a:avLst/>
          </a:prstGeom>
          <a:solidFill>
            <a:srgbClr val="00B0F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822960" y="4617720"/>
            <a:ext cx="3611880" cy="32918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0C2744"/>
                </a:solidFill>
                <a:latin typeface="微软雅黑"/>
                <a:ea typeface="微软雅黑"/>
                <a:cs typeface="微软雅黑"/>
                <a:sym typeface="微软雅黑"/>
              </a:rPr>
              <a:t>作业批改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22960" y="4956048"/>
            <a:ext cx="3611880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8333"/>
              </a:lnSpc>
              <a:defRPr/>
            </a:pPr>
            <a:r>
              <a:rPr lang="en-US" sz="1100" b="0" i="0" u="none" strike="noStrike">
                <a:solidFill>
                  <a:srgbClr val="8C8C8C"/>
                </a:solidFill>
                <a:latin typeface="微软雅黑"/>
                <a:ea typeface="微软雅黑"/>
                <a:cs typeface="微软雅黑"/>
                <a:sym typeface="微软雅黑"/>
              </a:rPr>
              <a:t>拍照上传·OCR 识别·协同批改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617720" y="1965960"/>
            <a:ext cx="3611880" cy="25146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11" name="AutoShape 11"/>
          <p:cNvSpPr/>
          <p:nvPr/>
        </p:nvSpPr>
        <p:spPr>
          <a:xfrm>
            <a:off x="4617720" y="4480560"/>
            <a:ext cx="3611880" cy="36576"/>
          </a:xfrm>
          <a:prstGeom prst="rect">
            <a:avLst/>
          </a:prstGeom>
          <a:solidFill>
            <a:srgbClr val="00B0F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4617720" y="4617720"/>
            <a:ext cx="3611880" cy="32918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0C2744"/>
                </a:solidFill>
                <a:latin typeface="微软雅黑"/>
                <a:ea typeface="微软雅黑"/>
                <a:cs typeface="微软雅黑"/>
                <a:sym typeface="微软雅黑"/>
              </a:rPr>
              <a:t>数据分析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617720" y="4956048"/>
            <a:ext cx="3611880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8333"/>
              </a:lnSpc>
              <a:defRPr/>
            </a:pPr>
            <a:r>
              <a:rPr lang="en-US" sz="1100" b="0" i="0" u="none" strike="noStrike">
                <a:solidFill>
                  <a:srgbClr val="8C8C8C"/>
                </a:solidFill>
                <a:latin typeface="微软雅黑"/>
                <a:ea typeface="微软雅黑"/>
                <a:cs typeface="微软雅黑"/>
                <a:sym typeface="微软雅黑"/>
              </a:rPr>
              <a:t>6 维雷达·正确率与掌握度</a:t>
            </a:r>
            <a:endParaRPr lang="en-US" sz="1100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8412480" y="1965960"/>
            <a:ext cx="3611880" cy="25146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15" name="AutoShape 15"/>
          <p:cNvSpPr/>
          <p:nvPr/>
        </p:nvSpPr>
        <p:spPr>
          <a:xfrm>
            <a:off x="8412480" y="4480560"/>
            <a:ext cx="3611880" cy="36576"/>
          </a:xfrm>
          <a:prstGeom prst="rect">
            <a:avLst/>
          </a:prstGeom>
          <a:solidFill>
            <a:srgbClr val="00B0F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8412480" y="4617720"/>
            <a:ext cx="3611880" cy="32918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0C2744"/>
                </a:solidFill>
                <a:latin typeface="微软雅黑"/>
                <a:ea typeface="微软雅黑"/>
                <a:cs typeface="微软雅黑"/>
                <a:sym typeface="微软雅黑"/>
              </a:rPr>
              <a:t>多智能体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412480" y="4956048"/>
            <a:ext cx="3611880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8333"/>
              </a:lnSpc>
              <a:defRPr/>
            </a:pPr>
            <a:r>
              <a:rPr lang="en-US" sz="1100" b="0" i="0" u="none" strike="noStrike">
                <a:solidFill>
                  <a:srgbClr val="8C8C8C"/>
                </a:solidFill>
                <a:latin typeface="微软雅黑"/>
                <a:ea typeface="微软雅黑"/>
                <a:cs typeface="微软雅黑"/>
                <a:sym typeface="微软雅黑"/>
              </a:rPr>
              <a:t>五 Agent 职责与协作架构</a:t>
            </a:r>
            <a:endParaRPr lang="en-US" sz="1100"/>
          </a:p>
        </p:txBody>
      </p:sp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22960" y="219456"/>
            <a:ext cx="6858000" cy="5029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000" b="0" i="0" u="none" strike="noStrike">
                <a:solidFill>
                  <a:srgbClr val="A6A6A6"/>
                </a:solidFill>
                <a:latin typeface="微软雅黑"/>
                <a:ea typeface="微软雅黑"/>
                <a:cs typeface="微软雅黑"/>
                <a:sym typeface="微软雅黑"/>
              </a:rPr>
              <a:t>02 解决方案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822960" y="731520"/>
            <a:ext cx="6858000" cy="2560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00" b="0" i="0" u="none" strike="noStrike" spc="200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ZHIXUEBAN · AI LEARNING COMPANION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822960" y="1024128"/>
            <a:ext cx="11210544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300" b="1" i="0" u="none" strike="noStrike">
                <a:solidFill>
                  <a:srgbClr val="0C2744"/>
                </a:solidFill>
                <a:latin typeface="微软雅黑"/>
                <a:ea typeface="微软雅黑"/>
                <a:cs typeface="微软雅黑"/>
                <a:sym typeface="微软雅黑"/>
              </a:rPr>
              <a:t>核心功能一：AI 智能答疑（三模式）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822960" y="1481328"/>
            <a:ext cx="11210544" cy="29260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50" b="0" i="0" u="none" strike="noStrike">
                <a:solidFill>
                  <a:srgbClr val="8C8C8C"/>
                </a:solidFill>
                <a:latin typeface="微软雅黑"/>
                <a:ea typeface="微软雅黑"/>
                <a:cs typeface="微软雅黑"/>
                <a:sym typeface="微软雅黑"/>
              </a:rPr>
              <a:t>同一问题，三种应答深度，由学生自主选择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822960" y="205740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E8E8E8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822960" y="2057400"/>
            <a:ext cx="3611880" cy="82296"/>
          </a:xfrm>
          <a:prstGeom prst="rect">
            <a:avLst/>
          </a:prstGeom>
          <a:solidFill>
            <a:srgbClr val="00B0F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005840" y="2240280"/>
            <a:ext cx="3246120" cy="3657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50" b="1" i="0" u="none" strike="noStrike">
                <a:solidFill>
                  <a:srgbClr val="0C2744"/>
                </a:solidFill>
                <a:latin typeface="微软雅黑"/>
                <a:ea typeface="微软雅黑"/>
                <a:cs typeface="微软雅黑"/>
                <a:sym typeface="微软雅黑"/>
              </a:rPr>
              <a:t>引导式模式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05840" y="2670048"/>
            <a:ext cx="3246120" cy="10972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150" b="0" i="0" u="none" strike="noStrike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苏格拉底教学法，不直接给答案，通过启发性提问引导独立思考，培养思维能力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617720" y="205740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E8E8E8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4617720" y="2057400"/>
            <a:ext cx="3611880" cy="82296"/>
          </a:xfrm>
          <a:prstGeom prst="rect">
            <a:avLst/>
          </a:prstGeom>
          <a:solidFill>
            <a:srgbClr val="7F7F7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4800600" y="2240280"/>
            <a:ext cx="3246120" cy="3657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50" b="1" i="0" u="none" strike="noStrike">
                <a:solidFill>
                  <a:srgbClr val="0C2744"/>
                </a:solidFill>
                <a:latin typeface="微软雅黑"/>
                <a:ea typeface="微软雅黑"/>
                <a:cs typeface="微软雅黑"/>
                <a:sym typeface="微软雅黑"/>
              </a:rPr>
              <a:t>直接解答模式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800600" y="2670048"/>
            <a:ext cx="3246120" cy="10972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150" b="0" i="0" u="none" strike="noStrike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给出详细解题步骤与答案，适合复习巩固与快速查阅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412480" y="205740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E8E8E8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8412480" y="2057400"/>
            <a:ext cx="3611880" cy="82296"/>
          </a:xfrm>
          <a:prstGeom prst="rect">
            <a:avLst/>
          </a:prstGeom>
          <a:solidFill>
            <a:srgbClr val="0C2744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8595360" y="2240280"/>
            <a:ext cx="3246120" cy="3657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50" b="1" i="0" u="none" strike="noStrike">
                <a:solidFill>
                  <a:srgbClr val="0C2744"/>
                </a:solidFill>
                <a:latin typeface="微软雅黑"/>
                <a:ea typeface="微软雅黑"/>
                <a:cs typeface="微软雅黑"/>
                <a:sym typeface="微软雅黑"/>
              </a:rPr>
              <a:t>混合模式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595360" y="2670048"/>
            <a:ext cx="3246120" cy="10972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150" b="0" i="0" u="none" strike="noStrike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先引导思考，学生无法解决时再给出详细解答，兼顾思维培养与效率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22960" y="4206240"/>
            <a:ext cx="82296" cy="310896"/>
          </a:xfrm>
          <a:prstGeom prst="rect">
            <a:avLst/>
          </a:prstGeom>
          <a:solidFill>
            <a:srgbClr val="00B0F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1005840" y="4160520"/>
            <a:ext cx="7315200" cy="40233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200" b="1" i="0" u="none" strike="noStrike">
                <a:solidFill>
                  <a:srgbClr val="0C2744"/>
                </a:solidFill>
                <a:latin typeface="微软雅黑"/>
                <a:ea typeface="微软雅黑"/>
                <a:cs typeface="微软雅黑"/>
                <a:sym typeface="微软雅黑"/>
              </a:rPr>
              <a:t>通用特性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905256" y="4882896"/>
            <a:ext cx="201168" cy="201168"/>
          </a:xfrm>
          <a:prstGeom prst="ellipse">
            <a:avLst/>
          </a:prstGeom>
          <a:solidFill>
            <a:srgbClr val="00B0F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1207008" y="4709160"/>
            <a:ext cx="5440680" cy="5029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8333"/>
              </a:lnSpc>
              <a:defRPr/>
            </a:pPr>
            <a:r>
              <a:rPr lang="en-US" sz="1150" b="0" i="0" u="none" strike="noStrike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三大核心学科覆盖：高等数学 / 线性代数 / 概率论与数理统计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665976" y="4882896"/>
            <a:ext cx="201168" cy="201168"/>
          </a:xfrm>
          <a:prstGeom prst="ellipse">
            <a:avLst/>
          </a:prstGeom>
          <a:solidFill>
            <a:srgbClr val="00B0F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6967728" y="4709160"/>
            <a:ext cx="5440680" cy="5029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8333"/>
              </a:lnSpc>
              <a:defRPr/>
            </a:pPr>
            <a:r>
              <a:rPr lang="en-US" sz="1150" b="0" i="0" u="none" strike="noStrike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多轮对话支持上下文理解；情感化反馈、鼓励式互动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905256" y="5431536"/>
            <a:ext cx="201168" cy="201168"/>
          </a:xfrm>
          <a:prstGeom prst="ellipse">
            <a:avLst/>
          </a:prstGeom>
          <a:solidFill>
            <a:srgbClr val="00B0F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1207008" y="5257800"/>
            <a:ext cx="5440680" cy="5029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8333"/>
              </a:lnSpc>
              <a:defRPr/>
            </a:pPr>
            <a:r>
              <a:rPr lang="en-US" sz="1150" b="0" i="0" u="none" strike="noStrike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思维链可视化破除 AI 黑盒；知识来源标注与复核提示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665976" y="5431536"/>
            <a:ext cx="201168" cy="201168"/>
          </a:xfrm>
          <a:prstGeom prst="ellipse">
            <a:avLst/>
          </a:prstGeom>
          <a:solidFill>
            <a:srgbClr val="00B0F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6967728" y="5257800"/>
            <a:ext cx="5440680" cy="5029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8333"/>
              </a:lnSpc>
              <a:defRPr/>
            </a:pPr>
            <a:r>
              <a:rPr lang="en-US" sz="1150" b="0" i="0" u="none" strike="noStrike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豆包 API / DeepSeek 双模型切换；本地知识库模式（124 词条）无需 API 即可体验</a:t>
            </a:r>
            <a:endParaRPr lang="en-US" sz="1100"/>
          </a:p>
        </p:txBody>
      </p:sp>
    </p:spTree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22960" y="219456"/>
            <a:ext cx="6858000" cy="5029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000" b="0" i="0" u="none" strike="noStrike">
                <a:solidFill>
                  <a:srgbClr val="A6A6A6"/>
                </a:solidFill>
                <a:latin typeface="微软雅黑"/>
                <a:ea typeface="微软雅黑"/>
                <a:cs typeface="微软雅黑"/>
                <a:sym typeface="微软雅黑"/>
              </a:rPr>
              <a:t>02 解决方案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822960" y="731520"/>
            <a:ext cx="6858000" cy="2560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00" b="0" i="0" u="none" strike="noStrike" spc="200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ZHIXUEBAN · AI LEARNING COMPANION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822960" y="1024128"/>
            <a:ext cx="11210544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300" b="1" i="0" u="none" strike="noStrike">
                <a:solidFill>
                  <a:srgbClr val="0C2744"/>
                </a:solidFill>
                <a:latin typeface="微软雅黑"/>
                <a:ea typeface="微软雅黑"/>
                <a:cs typeface="微软雅黑"/>
                <a:sym typeface="微软雅黑"/>
              </a:rPr>
              <a:t>核心功能三：智能作业批改（完整链路）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822960" y="1481328"/>
            <a:ext cx="11210544" cy="29260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50" b="0" i="0" u="none" strike="noStrike">
                <a:solidFill>
                  <a:srgbClr val="8C8C8C"/>
                </a:solidFill>
                <a:latin typeface="微软雅黑"/>
                <a:ea typeface="微软雅黑"/>
                <a:cs typeface="微软雅黑"/>
                <a:sym typeface="微软雅黑"/>
              </a:rPr>
              <a:t>绿色=浏览器本地完成，红色=需联网调用模型/引擎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822960" y="2468880"/>
            <a:ext cx="1731569" cy="566928"/>
          </a:xfrm>
          <a:prstGeom prst="chevron">
            <a:avLst>
              <a:gd name="adj" fmla="val 50000"/>
            </a:avLst>
          </a:prstGeom>
          <a:solidFill>
            <a:srgbClr val="0C2744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932688" y="2468880"/>
            <a:ext cx="1548689" cy="56692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00B0F0"/>
                </a:solidFill>
                <a:latin typeface="微软雅黑"/>
                <a:ea typeface="微软雅黑"/>
                <a:cs typeface="微软雅黑"/>
                <a:sym typeface="微软雅黑"/>
              </a:rPr>
              <a:t>1  </a:t>
            </a:r>
            <a:r>
              <a:rPr lang="en-US" sz="13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拍照上传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41248" y="3108960"/>
            <a:ext cx="1694993" cy="6400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 defTabSz="914400">
              <a:lnSpc>
                <a:spcPct val="108333"/>
              </a:lnSpc>
              <a:defRPr/>
            </a:pPr>
            <a:r>
              <a:rPr lang="en-US" sz="1100" b="0" i="0" u="none" strike="noStrike">
                <a:solidFill>
                  <a:srgbClr val="8C8C8C"/>
                </a:solidFill>
                <a:latin typeface="微软雅黑"/>
                <a:ea typeface="微软雅黑"/>
                <a:cs typeface="微软雅黑"/>
                <a:sym typeface="微软雅黑"/>
              </a:rPr>
              <a:t>拍照/上传图片或手动输入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414424" y="2121408"/>
            <a:ext cx="548640" cy="274320"/>
          </a:xfrm>
          <a:prstGeom prst="roundRect">
            <a:avLst>
              <a:gd name="adj" fmla="val 50000"/>
            </a:avLst>
          </a:prstGeom>
          <a:solidFill>
            <a:srgbClr val="2E7D5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1414424" y="2121408"/>
            <a:ext cx="548640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0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本地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2719121" y="2468880"/>
            <a:ext cx="1731569" cy="566928"/>
          </a:xfrm>
          <a:prstGeom prst="chevron">
            <a:avLst>
              <a:gd name="adj" fmla="val 50000"/>
            </a:avLst>
          </a:prstGeom>
          <a:solidFill>
            <a:srgbClr val="7F7F7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2828849" y="2468880"/>
            <a:ext cx="1548689" cy="56692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00B0F0"/>
                </a:solidFill>
                <a:latin typeface="微软雅黑"/>
                <a:ea typeface="微软雅黑"/>
                <a:cs typeface="微软雅黑"/>
                <a:sym typeface="微软雅黑"/>
              </a:rPr>
              <a:t>2  </a:t>
            </a:r>
            <a:r>
              <a:rPr lang="en-US" sz="13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OCR 识别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2737409" y="3108960"/>
            <a:ext cx="1694993" cy="6400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 defTabSz="914400">
              <a:lnSpc>
                <a:spcPct val="108333"/>
              </a:lnSpc>
              <a:defRPr/>
            </a:pPr>
            <a:r>
              <a:rPr lang="en-US" sz="1100" b="0" i="0" u="none" strike="noStrike">
                <a:solidFill>
                  <a:srgbClr val="8C8C8C"/>
                </a:solidFill>
                <a:latin typeface="微软雅黑"/>
                <a:ea typeface="微软雅黑"/>
                <a:cs typeface="微软雅黑"/>
                <a:sym typeface="微软雅黑"/>
              </a:rPr>
              <a:t>Tesseract.js 纯前端引擎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3310585" y="2121408"/>
            <a:ext cx="548640" cy="274320"/>
          </a:xfrm>
          <a:prstGeom prst="roundRect">
            <a:avLst>
              <a:gd name="adj" fmla="val 50000"/>
            </a:avLst>
          </a:prstGeom>
          <a:solidFill>
            <a:srgbClr val="2E7D5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3310585" y="2121408"/>
            <a:ext cx="548640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0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本地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615282" y="2468880"/>
            <a:ext cx="1731569" cy="566928"/>
          </a:xfrm>
          <a:prstGeom prst="chevron">
            <a:avLst>
              <a:gd name="adj" fmla="val 50000"/>
            </a:avLst>
          </a:prstGeom>
          <a:solidFill>
            <a:srgbClr val="0C2744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4725010" y="2468880"/>
            <a:ext cx="1548689" cy="56692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00B0F0"/>
                </a:solidFill>
                <a:latin typeface="微软雅黑"/>
                <a:ea typeface="微软雅黑"/>
                <a:cs typeface="微软雅黑"/>
                <a:sym typeface="微软雅黑"/>
              </a:rPr>
              <a:t>3  </a:t>
            </a:r>
            <a:r>
              <a:rPr lang="en-US" sz="13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题库匹配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4633570" y="3108960"/>
            <a:ext cx="1694993" cy="6400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 defTabSz="914400">
              <a:lnSpc>
                <a:spcPct val="108333"/>
              </a:lnSpc>
              <a:defRPr/>
            </a:pPr>
            <a:r>
              <a:rPr lang="en-US" sz="1100" b="0" i="0" u="none" strike="noStrike">
                <a:solidFill>
                  <a:srgbClr val="8C8C8C"/>
                </a:solidFill>
                <a:latin typeface="微软雅黑"/>
                <a:ea typeface="微软雅黑"/>
                <a:cs typeface="微软雅黑"/>
                <a:sym typeface="微软雅黑"/>
              </a:rPr>
              <a:t>n-gram+关键词加权 双阈值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5206746" y="2121408"/>
            <a:ext cx="548640" cy="274320"/>
          </a:xfrm>
          <a:prstGeom prst="roundRect">
            <a:avLst>
              <a:gd name="adj" fmla="val 50000"/>
            </a:avLst>
          </a:prstGeom>
          <a:solidFill>
            <a:srgbClr val="2E7D5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5206746" y="2121408"/>
            <a:ext cx="548640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0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本地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511442" y="2468880"/>
            <a:ext cx="1731569" cy="566928"/>
          </a:xfrm>
          <a:prstGeom prst="chevron">
            <a:avLst>
              <a:gd name="adj" fmla="val 50000"/>
            </a:avLst>
          </a:prstGeom>
          <a:solidFill>
            <a:srgbClr val="7F7F7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6621170" y="2468880"/>
            <a:ext cx="1548689" cy="56692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00B0F0"/>
                </a:solidFill>
                <a:latin typeface="微软雅黑"/>
                <a:ea typeface="微软雅黑"/>
                <a:cs typeface="微软雅黑"/>
                <a:sym typeface="微软雅黑"/>
              </a:rPr>
              <a:t>4  </a:t>
            </a:r>
            <a:r>
              <a:rPr lang="en-US" sz="13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AI 判题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529730" y="3108960"/>
            <a:ext cx="1694993" cy="6400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 defTabSz="914400">
              <a:lnSpc>
                <a:spcPct val="108333"/>
              </a:lnSpc>
              <a:defRPr/>
            </a:pPr>
            <a:r>
              <a:rPr lang="en-US" sz="1100" b="0" i="0" u="none" strike="noStrike">
                <a:solidFill>
                  <a:srgbClr val="8C8C8C"/>
                </a:solidFill>
                <a:latin typeface="微软雅黑"/>
                <a:ea typeface="微软雅黑"/>
                <a:cs typeface="微软雅黑"/>
                <a:sym typeface="微软雅黑"/>
              </a:rPr>
              <a:t>答疑判题→核验复核→诊断归因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102907" y="2121408"/>
            <a:ext cx="548640" cy="274320"/>
          </a:xfrm>
          <a:prstGeom prst="roundRect">
            <a:avLst>
              <a:gd name="adj" fmla="val 50000"/>
            </a:avLst>
          </a:prstGeom>
          <a:solidFill>
            <a:srgbClr val="C0563A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7102907" y="2121408"/>
            <a:ext cx="548640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0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联网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407603" y="2468880"/>
            <a:ext cx="1731569" cy="566928"/>
          </a:xfrm>
          <a:prstGeom prst="chevron">
            <a:avLst>
              <a:gd name="adj" fmla="val 50000"/>
            </a:avLst>
          </a:prstGeom>
          <a:solidFill>
            <a:srgbClr val="0C2744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8517331" y="2468880"/>
            <a:ext cx="1548689" cy="56692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00B0F0"/>
                </a:solidFill>
                <a:latin typeface="微软雅黑"/>
                <a:ea typeface="微软雅黑"/>
                <a:cs typeface="微软雅黑"/>
                <a:sym typeface="微软雅黑"/>
              </a:rPr>
              <a:t>5  </a:t>
            </a:r>
            <a:r>
              <a:rPr lang="en-US" sz="13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诊断归档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8425891" y="3108960"/>
            <a:ext cx="1694993" cy="6400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 defTabSz="914400">
              <a:lnSpc>
                <a:spcPct val="108333"/>
              </a:lnSpc>
              <a:defRPr/>
            </a:pPr>
            <a:r>
              <a:rPr lang="en-US" sz="1100" b="0" i="0" u="none" strike="noStrike">
                <a:solidFill>
                  <a:srgbClr val="8C8C8C"/>
                </a:solidFill>
                <a:latin typeface="微软雅黑"/>
                <a:ea typeface="微软雅黑"/>
                <a:cs typeface="微软雅黑"/>
                <a:sym typeface="微软雅黑"/>
              </a:rPr>
              <a:t>错误类型定位·错题自动归档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8999068" y="2121408"/>
            <a:ext cx="548640" cy="274320"/>
          </a:xfrm>
          <a:prstGeom prst="roundRect">
            <a:avLst>
              <a:gd name="adj" fmla="val 50000"/>
            </a:avLst>
          </a:prstGeom>
          <a:solidFill>
            <a:srgbClr val="2E7D5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30" name="AutoShape 30"/>
          <p:cNvSpPr/>
          <p:nvPr/>
        </p:nvSpPr>
        <p:spPr>
          <a:xfrm>
            <a:off x="8999068" y="2121408"/>
            <a:ext cx="548640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0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本地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10303764" y="2468880"/>
            <a:ext cx="1731569" cy="566928"/>
          </a:xfrm>
          <a:prstGeom prst="chevron">
            <a:avLst>
              <a:gd name="adj" fmla="val 50000"/>
            </a:avLst>
          </a:prstGeom>
          <a:solidFill>
            <a:srgbClr val="7F7F7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32" name="AutoShape 32"/>
          <p:cNvSpPr/>
          <p:nvPr/>
        </p:nvSpPr>
        <p:spPr>
          <a:xfrm>
            <a:off x="10413492" y="2468880"/>
            <a:ext cx="1548689" cy="56692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00B0F0"/>
                </a:solidFill>
                <a:latin typeface="微软雅黑"/>
                <a:ea typeface="微软雅黑"/>
                <a:cs typeface="微软雅黑"/>
                <a:sym typeface="微软雅黑"/>
              </a:rPr>
              <a:t>6  </a:t>
            </a:r>
            <a:r>
              <a:rPr lang="en-US" sz="13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推荐练习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10322052" y="3108960"/>
            <a:ext cx="1694993" cy="6400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 defTabSz="914400">
              <a:lnSpc>
                <a:spcPct val="108333"/>
              </a:lnSpc>
              <a:defRPr/>
            </a:pPr>
            <a:r>
              <a:rPr lang="en-US" sz="1100" b="0" i="0" u="none" strike="noStrike">
                <a:solidFill>
                  <a:srgbClr val="8C8C8C"/>
                </a:solidFill>
                <a:latin typeface="微软雅黑"/>
                <a:ea typeface="微软雅黑"/>
                <a:cs typeface="微软雅黑"/>
                <a:sym typeface="微软雅黑"/>
              </a:rPr>
              <a:t>按薄弱知识点推送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10895228" y="2121408"/>
            <a:ext cx="548640" cy="274320"/>
          </a:xfrm>
          <a:prstGeom prst="roundRect">
            <a:avLst>
              <a:gd name="adj" fmla="val 50000"/>
            </a:avLst>
          </a:prstGeom>
          <a:solidFill>
            <a:srgbClr val="2E7D5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35" name="AutoShape 35"/>
          <p:cNvSpPr/>
          <p:nvPr/>
        </p:nvSpPr>
        <p:spPr>
          <a:xfrm>
            <a:off x="10895228" y="2121408"/>
            <a:ext cx="548640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0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本地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822960" y="4251960"/>
            <a:ext cx="82296" cy="310896"/>
          </a:xfrm>
          <a:prstGeom prst="rect">
            <a:avLst/>
          </a:prstGeom>
          <a:solidFill>
            <a:srgbClr val="00B0F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37" name="AutoShape 37"/>
          <p:cNvSpPr/>
          <p:nvPr/>
        </p:nvSpPr>
        <p:spPr>
          <a:xfrm>
            <a:off x="1005840" y="4206240"/>
            <a:ext cx="7315200" cy="40233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200" b="1" i="0" u="none" strike="noStrike">
                <a:solidFill>
                  <a:srgbClr val="0C2744"/>
                </a:solidFill>
                <a:latin typeface="微软雅黑"/>
                <a:ea typeface="微软雅黑"/>
                <a:cs typeface="微软雅黑"/>
                <a:sym typeface="微软雅黑"/>
              </a:rPr>
              <a:t>核心特性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905256" y="4910328"/>
            <a:ext cx="201168" cy="201168"/>
          </a:xfrm>
          <a:prstGeom prst="ellipse">
            <a:avLst/>
          </a:prstGeom>
          <a:solidFill>
            <a:srgbClr val="00B0F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39" name="AutoShape 39"/>
          <p:cNvSpPr/>
          <p:nvPr/>
        </p:nvSpPr>
        <p:spPr>
          <a:xfrm>
            <a:off x="1207008" y="4736592"/>
            <a:ext cx="5440680" cy="5029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8333"/>
              </a:lnSpc>
              <a:defRPr/>
            </a:pPr>
            <a:r>
              <a:rPr lang="en-US" sz="1150" b="0" i="0" u="none" strike="noStrike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内置精选题库 95 题（高数 35+线代 30+概率 30），支持学科自动识别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6665976" y="4910328"/>
            <a:ext cx="201168" cy="201168"/>
          </a:xfrm>
          <a:prstGeom prst="ellipse">
            <a:avLst/>
          </a:prstGeom>
          <a:solidFill>
            <a:srgbClr val="00B0F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41" name="AutoShape 41"/>
          <p:cNvSpPr/>
          <p:nvPr/>
        </p:nvSpPr>
        <p:spPr>
          <a:xfrm>
            <a:off x="6967728" y="4736592"/>
            <a:ext cx="5440680" cy="5029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8333"/>
              </a:lnSpc>
              <a:defRPr/>
            </a:pPr>
            <a:r>
              <a:rPr lang="en-US" sz="1150" b="0" i="0" u="none" strike="noStrike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答案框留空由学生填写，避免 OCR 文本被误当答案</a:t>
            </a:r>
            <a:endParaRPr lang="en-US" sz="1100"/>
          </a:p>
        </p:txBody>
      </p:sp>
      <p:sp>
        <p:nvSpPr>
          <p:cNvPr id="42" name="AutoShape 42"/>
          <p:cNvSpPr/>
          <p:nvPr/>
        </p:nvSpPr>
        <p:spPr>
          <a:xfrm>
            <a:off x="905256" y="5458968"/>
            <a:ext cx="201168" cy="201168"/>
          </a:xfrm>
          <a:prstGeom prst="ellipse">
            <a:avLst/>
          </a:prstGeom>
          <a:solidFill>
            <a:srgbClr val="00B0F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43" name="AutoShape 43"/>
          <p:cNvSpPr/>
          <p:nvPr/>
        </p:nvSpPr>
        <p:spPr>
          <a:xfrm>
            <a:off x="1207008" y="5285232"/>
            <a:ext cx="5440680" cy="5029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8333"/>
              </a:lnSpc>
              <a:defRPr/>
            </a:pPr>
            <a:r>
              <a:rPr lang="en-US" sz="1150" b="0" i="0" u="none" strike="noStrike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未匹配题目标注「未匹配题库，转 AI 批改」，并展示最相近相似度</a:t>
            </a:r>
            <a:endParaRPr lang="en-US" sz="1100"/>
          </a:p>
        </p:txBody>
      </p:sp>
      <p:sp>
        <p:nvSpPr>
          <p:cNvPr id="44" name="AutoShape 44"/>
          <p:cNvSpPr/>
          <p:nvPr/>
        </p:nvSpPr>
        <p:spPr>
          <a:xfrm>
            <a:off x="6665976" y="5458968"/>
            <a:ext cx="201168" cy="201168"/>
          </a:xfrm>
          <a:prstGeom prst="ellipse">
            <a:avLst/>
          </a:prstGeom>
          <a:solidFill>
            <a:srgbClr val="00B0F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45" name="AutoShape 45"/>
          <p:cNvSpPr/>
          <p:nvPr/>
        </p:nvSpPr>
        <p:spPr>
          <a:xfrm>
            <a:off x="6967728" y="5285232"/>
            <a:ext cx="5440680" cy="5029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8333"/>
              </a:lnSpc>
              <a:defRPr/>
            </a:pPr>
            <a:r>
              <a:rPr lang="en-US" sz="1150" b="0" i="0" u="none" strike="noStrike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判题支持完全匹配、数字序列浮点误差、分数与小数等价匹配</a:t>
            </a:r>
            <a:endParaRPr lang="en-US" sz="1100"/>
          </a:p>
        </p:txBody>
      </p:sp>
      <p:sp>
        <p:nvSpPr>
          <p:cNvPr id="46" name="AutoShape 46"/>
          <p:cNvSpPr/>
          <p:nvPr/>
        </p:nvSpPr>
        <p:spPr>
          <a:xfrm>
            <a:off x="822960" y="5989320"/>
            <a:ext cx="11210544" cy="4114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050" b="0" i="1" u="none" strike="noStrike">
                <a:solidFill>
                  <a:srgbClr val="8C8C8C"/>
                </a:solidFill>
                <a:latin typeface="微软雅黑"/>
                <a:ea typeface="微软雅黑"/>
                <a:cs typeface="微软雅黑"/>
                <a:sym typeface="微软雅黑"/>
              </a:rPr>
              <a:t>OCR 引擎与中文语言包由 CDN 按需动态加载（不阻塞首屏），使用拍照批改需联网；引擎加载失败时自动回退为手动输入题目模式</a:t>
            </a:r>
            <a:endParaRPr lang="en-US" sz="110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childTnLst>
                        <p:par>
                          <p:cTn id="21" fill="hold">
                            <p:childTnLst>
                              <p:par>
                                <p:cTn id="22" presetID="10" presetClass="entr" presetSubtype="0" repeatCount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childTnLst>
                        <p:par>
                          <p:cTn id="38" fill="hold">
                            <p:childTnLst>
                              <p:par>
                                <p:cTn id="39" presetID="10" presetClass="entr" presetSubtype="0" repeatCount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childTnLst>
                        <p:par>
                          <p:cTn id="55" fill="hold">
                            <p:childTnLst>
                              <p:par>
                                <p:cTn id="56" presetID="10" presetClass="entr" presetSubtype="0" repeatCount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childTnLst>
                        <p:par>
                          <p:cTn id="72" fill="hold">
                            <p:childTnLst>
                              <p:par>
                                <p:cTn id="73" presetID="10" presetClass="entr" presetSubtype="0" repeatCount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childTnLst>
                        <p:par>
                          <p:cTn id="89" fill="hold">
                            <p:childTnLst>
                              <p:par>
                                <p:cTn id="90" presetID="10" presetClass="entr" presetSubtype="0" repeatCount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22960" y="219456"/>
            <a:ext cx="6858000" cy="5029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000" b="0" i="0" u="none" strike="noStrike">
                <a:solidFill>
                  <a:srgbClr val="A6A6A6"/>
                </a:solidFill>
                <a:latin typeface="微软雅黑"/>
                <a:ea typeface="微软雅黑"/>
                <a:cs typeface="微软雅黑"/>
                <a:sym typeface="微软雅黑"/>
              </a:rPr>
              <a:t>02 解决方案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822960" y="731520"/>
            <a:ext cx="6858000" cy="2560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00" b="0" i="0" u="none" strike="noStrike" spc="200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ZHIXUEBAN · AI LEARNING COMPANION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822960" y="1024128"/>
            <a:ext cx="11210544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300" b="1" i="0" u="none" strike="noStrike">
                <a:solidFill>
                  <a:srgbClr val="0C2744"/>
                </a:solidFill>
                <a:latin typeface="微软雅黑"/>
                <a:ea typeface="微软雅黑"/>
                <a:cs typeface="微软雅黑"/>
                <a:sym typeface="微软雅黑"/>
              </a:rPr>
              <a:t>支撑架构：多智能体协作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822960" y="1481328"/>
            <a:ext cx="11210544" cy="29260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50" b="0" i="0" u="none" strike="noStrike">
                <a:solidFill>
                  <a:srgbClr val="8C8C8C"/>
                </a:solidFill>
                <a:latin typeface="微软雅黑"/>
                <a:ea typeface="微软雅黑"/>
                <a:cs typeface="微软雅黑"/>
                <a:sym typeface="微软雅黑"/>
              </a:rPr>
              <a:t>五角色基于 MessageBus 消息总线协同（订阅/发布/历史记录）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822960" y="2057400"/>
            <a:ext cx="2121408" cy="1188720"/>
          </a:xfrm>
          <a:prstGeom prst="roundRect">
            <a:avLst>
              <a:gd name="adj" fmla="val 6154"/>
            </a:avLst>
          </a:prstGeom>
          <a:solidFill>
            <a:srgbClr val="0C2744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822960" y="2194560"/>
            <a:ext cx="2121408" cy="3657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答疑 Agent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14400" y="2578608"/>
            <a:ext cx="1938528" cy="5943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16666"/>
              </a:lnSpc>
              <a:defRPr/>
            </a:pPr>
            <a:r>
              <a:rPr lang="en-US" sz="1000" b="0" i="0" u="none" strike="noStrike">
                <a:solidFill>
                  <a:srgbClr val="DCE9F5"/>
                </a:solidFill>
                <a:latin typeface="微软雅黑"/>
                <a:ea typeface="微软雅黑"/>
                <a:cs typeface="微软雅黑"/>
                <a:sym typeface="微软雅黑"/>
              </a:rPr>
              <a:t>苏格拉底教学·思维链可视化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108960" y="2057400"/>
            <a:ext cx="2121408" cy="1188720"/>
          </a:xfrm>
          <a:prstGeom prst="roundRect">
            <a:avLst>
              <a:gd name="adj" fmla="val 6154"/>
            </a:avLst>
          </a:prstGeom>
          <a:solidFill>
            <a:srgbClr val="7F7F7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3108960" y="2194560"/>
            <a:ext cx="2121408" cy="3657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诊断 Agent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200400" y="2578608"/>
            <a:ext cx="1938528" cy="5943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16666"/>
              </a:lnSpc>
              <a:defRPr/>
            </a:pPr>
            <a:r>
              <a:rPr lang="en-US" sz="1000" b="0" i="0" u="none" strike="noStrike">
                <a:solidFill>
                  <a:srgbClr val="DCE9F5"/>
                </a:solidFill>
                <a:latin typeface="微软雅黑"/>
                <a:ea typeface="微软雅黑"/>
                <a:cs typeface="微软雅黑"/>
                <a:sym typeface="微软雅黑"/>
              </a:rPr>
              <a:t>错误类型分析·知识漏洞定位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394960" y="2057400"/>
            <a:ext cx="2121408" cy="1188720"/>
          </a:xfrm>
          <a:prstGeom prst="roundRect">
            <a:avLst>
              <a:gd name="adj" fmla="val 6154"/>
            </a:avLst>
          </a:prstGeom>
          <a:solidFill>
            <a:srgbClr val="0C2744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5394960" y="2194560"/>
            <a:ext cx="2121408" cy="3657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规划 Agent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5486400" y="2578608"/>
            <a:ext cx="1938528" cy="5943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16666"/>
              </a:lnSpc>
              <a:defRPr/>
            </a:pPr>
            <a:r>
              <a:rPr lang="en-US" sz="1000" b="0" i="0" u="none" strike="noStrike">
                <a:solidFill>
                  <a:srgbClr val="DCE9F5"/>
                </a:solidFill>
                <a:latin typeface="微软雅黑"/>
                <a:ea typeface="微软雅黑"/>
                <a:cs typeface="微软雅黑"/>
                <a:sym typeface="微软雅黑"/>
              </a:rPr>
              <a:t>学习路径推荐·资源推送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80960" y="2057400"/>
            <a:ext cx="2121408" cy="1188720"/>
          </a:xfrm>
          <a:prstGeom prst="roundRect">
            <a:avLst>
              <a:gd name="adj" fmla="val 6154"/>
            </a:avLst>
          </a:prstGeom>
          <a:solidFill>
            <a:srgbClr val="00B0F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7680960" y="2194560"/>
            <a:ext cx="2121408" cy="3657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核验 Agent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772400" y="2578608"/>
            <a:ext cx="1938528" cy="5943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16666"/>
              </a:lnSpc>
              <a:defRPr/>
            </a:pPr>
            <a:r>
              <a:rPr lang="en-US" sz="1000" b="0" i="0" u="none" strike="noStrike">
                <a:solidFill>
                  <a:srgbClr val="DCE9F5"/>
                </a:solidFill>
                <a:latin typeface="微软雅黑"/>
                <a:ea typeface="微软雅黑"/>
                <a:cs typeface="微软雅黑"/>
                <a:sym typeface="微软雅黑"/>
              </a:rPr>
              <a:t>来源标注·复核提示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9966960" y="2057400"/>
            <a:ext cx="2121408" cy="1188720"/>
          </a:xfrm>
          <a:prstGeom prst="roundRect">
            <a:avLst>
              <a:gd name="adj" fmla="val 6154"/>
            </a:avLst>
          </a:prstGeom>
          <a:solidFill>
            <a:srgbClr val="0C2744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9966960" y="2194560"/>
            <a:ext cx="2121408" cy="3657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情感 Agent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10058400" y="2578608"/>
            <a:ext cx="1938528" cy="5943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16666"/>
              </a:lnSpc>
              <a:defRPr/>
            </a:pPr>
            <a:r>
              <a:rPr lang="en-US" sz="1000" b="0" i="0" u="none" strike="noStrike">
                <a:solidFill>
                  <a:srgbClr val="DCE9F5"/>
                </a:solidFill>
                <a:latin typeface="微软雅黑"/>
                <a:ea typeface="微软雅黑"/>
                <a:cs typeface="微软雅黑"/>
                <a:sym typeface="微软雅黑"/>
              </a:rPr>
              <a:t>情绪识别·个性化鼓励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22960" y="3566160"/>
            <a:ext cx="82296" cy="310896"/>
          </a:xfrm>
          <a:prstGeom prst="rect">
            <a:avLst/>
          </a:prstGeom>
          <a:solidFill>
            <a:srgbClr val="00B0F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1005840" y="3520440"/>
            <a:ext cx="7315200" cy="40233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200" b="1" i="0" u="none" strike="noStrike">
                <a:solidFill>
                  <a:srgbClr val="0C2744"/>
                </a:solidFill>
                <a:latin typeface="微软雅黑"/>
                <a:ea typeface="微软雅黑"/>
                <a:cs typeface="微软雅黑"/>
                <a:sym typeface="微软雅黑"/>
              </a:rPr>
              <a:t>协作流程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22960" y="4069080"/>
            <a:ext cx="1731569" cy="566928"/>
          </a:xfrm>
          <a:prstGeom prst="chevron">
            <a:avLst>
              <a:gd name="adj" fmla="val 50000"/>
            </a:avLst>
          </a:prstGeom>
          <a:solidFill>
            <a:srgbClr val="0C2744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932688" y="4069080"/>
            <a:ext cx="1548689" cy="566928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00B0F0"/>
                </a:solidFill>
                <a:latin typeface="微软雅黑"/>
                <a:ea typeface="微软雅黑"/>
                <a:cs typeface="微软雅黑"/>
                <a:sym typeface="微软雅黑"/>
              </a:rPr>
              <a:t>1 </a:t>
            </a:r>
            <a:r>
              <a:rPr lang="en-US" sz="13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学生提问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2719121" y="4069080"/>
            <a:ext cx="1731569" cy="566928"/>
          </a:xfrm>
          <a:prstGeom prst="chevron">
            <a:avLst>
              <a:gd name="adj" fmla="val 50000"/>
            </a:avLst>
          </a:prstGeom>
          <a:solidFill>
            <a:srgbClr val="7F7F7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2828849" y="4069080"/>
            <a:ext cx="1548689" cy="566928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00B0F0"/>
                </a:solidFill>
                <a:latin typeface="微软雅黑"/>
                <a:ea typeface="微软雅黑"/>
                <a:cs typeface="微软雅黑"/>
                <a:sym typeface="微软雅黑"/>
              </a:rPr>
              <a:t>2 </a:t>
            </a:r>
            <a:r>
              <a:rPr lang="en-US" sz="13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答疑解答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4615282" y="4069080"/>
            <a:ext cx="1731569" cy="566928"/>
          </a:xfrm>
          <a:prstGeom prst="chevron">
            <a:avLst>
              <a:gd name="adj" fmla="val 50000"/>
            </a:avLst>
          </a:prstGeom>
          <a:solidFill>
            <a:srgbClr val="00B0F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8" name="AutoShape 28"/>
          <p:cNvSpPr/>
          <p:nvPr/>
        </p:nvSpPr>
        <p:spPr>
          <a:xfrm>
            <a:off x="4725010" y="4069080"/>
            <a:ext cx="1548689" cy="566928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00B0F0"/>
                </a:solidFill>
                <a:latin typeface="微软雅黑"/>
                <a:ea typeface="微软雅黑"/>
                <a:cs typeface="微软雅黑"/>
                <a:sym typeface="微软雅黑"/>
              </a:rPr>
              <a:t>3 </a:t>
            </a:r>
            <a:r>
              <a:rPr lang="en-US" sz="13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核验标注来源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511442" y="4069080"/>
            <a:ext cx="1731569" cy="566928"/>
          </a:xfrm>
          <a:prstGeom prst="chevron">
            <a:avLst>
              <a:gd name="adj" fmla="val 50000"/>
            </a:avLst>
          </a:prstGeom>
          <a:solidFill>
            <a:srgbClr val="7F7F7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30" name="AutoShape 30"/>
          <p:cNvSpPr/>
          <p:nvPr/>
        </p:nvSpPr>
        <p:spPr>
          <a:xfrm>
            <a:off x="6621170" y="4069080"/>
            <a:ext cx="1548689" cy="566928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00B0F0"/>
                </a:solidFill>
                <a:latin typeface="微软雅黑"/>
                <a:ea typeface="微软雅黑"/>
                <a:cs typeface="微软雅黑"/>
                <a:sym typeface="微软雅黑"/>
              </a:rPr>
              <a:t>4 </a:t>
            </a:r>
            <a:r>
              <a:rPr lang="en-US" sz="13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诊断知识点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8407603" y="4069080"/>
            <a:ext cx="1731569" cy="566928"/>
          </a:xfrm>
          <a:prstGeom prst="chevron">
            <a:avLst>
              <a:gd name="adj" fmla="val 50000"/>
            </a:avLst>
          </a:prstGeom>
          <a:solidFill>
            <a:srgbClr val="0C2744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32" name="AutoShape 32"/>
          <p:cNvSpPr/>
          <p:nvPr/>
        </p:nvSpPr>
        <p:spPr>
          <a:xfrm>
            <a:off x="8517331" y="4069080"/>
            <a:ext cx="1548689" cy="566928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00B0F0"/>
                </a:solidFill>
                <a:latin typeface="微软雅黑"/>
                <a:ea typeface="微软雅黑"/>
                <a:cs typeface="微软雅黑"/>
                <a:sym typeface="微软雅黑"/>
              </a:rPr>
              <a:t>5 </a:t>
            </a:r>
            <a:r>
              <a:rPr lang="en-US" sz="13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规划更新建议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10303764" y="4069080"/>
            <a:ext cx="1731569" cy="566928"/>
          </a:xfrm>
          <a:prstGeom prst="chevron">
            <a:avLst>
              <a:gd name="adj" fmla="val 50000"/>
            </a:avLst>
          </a:prstGeom>
          <a:solidFill>
            <a:srgbClr val="00B0F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34" name="AutoShape 34"/>
          <p:cNvSpPr/>
          <p:nvPr/>
        </p:nvSpPr>
        <p:spPr>
          <a:xfrm>
            <a:off x="10413492" y="4069080"/>
            <a:ext cx="1548689" cy="566928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00B0F0"/>
                </a:solidFill>
                <a:latin typeface="微软雅黑"/>
                <a:ea typeface="微软雅黑"/>
                <a:cs typeface="微软雅黑"/>
                <a:sym typeface="微软雅黑"/>
              </a:rPr>
              <a:t>6 </a:t>
            </a:r>
            <a:r>
              <a:rPr lang="en-US" sz="13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情感鼓励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822960" y="5257800"/>
            <a:ext cx="11210544" cy="868680"/>
          </a:xfrm>
          <a:prstGeom prst="roundRect">
            <a:avLst>
              <a:gd name="adj" fmla="val 6316"/>
            </a:avLst>
          </a:prstGeom>
          <a:solidFill>
            <a:srgbClr val="FFF6E0">
              <a:alpha val="100000"/>
            </a:srgbClr>
          </a:solidFill>
          <a:ln w="12700">
            <a:solidFill>
              <a:srgbClr val="FFC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36" name="AutoShape 36"/>
          <p:cNvSpPr/>
          <p:nvPr/>
        </p:nvSpPr>
        <p:spPr>
          <a:xfrm>
            <a:off x="987552" y="5257800"/>
            <a:ext cx="10881360" cy="86868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 defTabSz="914400">
              <a:lnSpc>
                <a:spcPct val="116666"/>
              </a:lnSpc>
              <a:defRPr/>
            </a:pPr>
            <a:r>
              <a:rPr lang="en-US" sz="1100" b="1" i="0" u="none" strike="noStrike">
                <a:solidFill>
                  <a:srgbClr val="B8860B"/>
                </a:solidFill>
                <a:latin typeface="微软雅黑"/>
                <a:ea typeface="微软雅黑"/>
                <a:cs typeface="微软雅黑"/>
                <a:sym typeface="微软雅黑"/>
              </a:rPr>
              <a:t>声明 </a:t>
            </a:r>
            <a:r>
              <a:rPr lang="en-US" sz="1150" b="0" i="0" u="none" strike="noStrike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每个角色独立调用大模型（API 模式）并行协作（核验∥诊断、规划∥情感两处并行）；本地模式使用角色专属模板并明确标注。核验 Agent 提供来源标注与复核提示，属辅助复核而非严格验证，同源模型自评存在误差相关性——协商与反思机制为下一阶段工作。</a:t>
            </a:r>
            <a:endParaRPr lang="en-US" sz="110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childTnLst>
                        <p:par>
                          <p:cTn id="12" fill="hold">
                            <p:childTnLst>
                              <p:par>
                                <p:cTn id="13" presetID="10" presetClass="entr" presetSubtype="0" repeatCount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childTnLst>
                        <p:par>
                          <p:cTn id="20" fill="hold">
                            <p:childTnLst>
                              <p:par>
                                <p:cTn id="21" presetID="10" presetClass="entr" presetSubtype="0" repeatCount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childTnLst>
                        <p:par>
                          <p:cTn id="28" fill="hold">
                            <p:childTnLst>
                              <p:par>
                                <p:cTn id="29" presetID="10" presetClass="entr" presetSubtype="0" repeatCount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childTnLst>
                        <p:par>
                          <p:cTn id="36" fill="hold">
                            <p:childTnLst>
                              <p:par>
                                <p:cTn id="37" presetID="10" presetClass="entr" presetSubtype="0" repeatCount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childTnLst>
                        <p:par>
                          <p:cTn id="44" fill="hold">
                            <p:childTnLst>
                              <p:par>
                                <p:cTn id="45" presetID="10" presetClass="entr" presetSubtype="0" repeatCount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22960" y="219456"/>
            <a:ext cx="6858000" cy="50292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000" b="0" i="0" u="none" strike="noStrike">
                <a:solidFill>
                  <a:srgbClr val="A6A6A6"/>
                </a:solidFill>
                <a:latin typeface="微软雅黑"/>
                <a:ea typeface="微软雅黑"/>
                <a:cs typeface="微软雅黑"/>
                <a:sym typeface="微软雅黑"/>
              </a:rPr>
              <a:t>02 解决方案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822960" y="731520"/>
            <a:ext cx="6858000" cy="25603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00" b="0" i="0" u="none" strike="noStrike" spc="200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ZHIXUEBAN · AI LEARNING COMPANION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822960" y="1024128"/>
            <a:ext cx="11210544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300" b="1" i="0" u="none" strike="noStrike">
                <a:solidFill>
                  <a:srgbClr val="0C2744"/>
                </a:solidFill>
                <a:latin typeface="微软雅黑"/>
                <a:ea typeface="微软雅黑"/>
                <a:cs typeface="微软雅黑"/>
                <a:sym typeface="微软雅黑"/>
              </a:rPr>
              <a:t>可行性分析：技术 · 经济 · 操作三维度均可落地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822960" y="1481328"/>
            <a:ext cx="11210544" cy="292608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50" b="0" i="0" u="none" strike="noStrike">
                <a:solidFill>
                  <a:srgbClr val="8C8C8C"/>
                </a:solidFill>
                <a:latin typeface="微软雅黑"/>
                <a:ea typeface="微软雅黑"/>
                <a:cs typeface="微软雅黑"/>
                <a:sym typeface="微软雅黑"/>
              </a:rPr>
              <a:t>原型已验证可运行，从开发成本到用户使用均无硬障碍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822960" y="2032000"/>
            <a:ext cx="3556000" cy="3810000"/>
          </a:xfrm>
          <a:prstGeom prst="roundRect">
            <a:avLst>
              <a:gd name="adj" fmla="val 2857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B0F0">
                <a:alpha val="3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016000" y="2235200"/>
            <a:ext cx="558800" cy="558800"/>
          </a:xfrm>
          <a:prstGeom prst="roundRect">
            <a:avLst>
              <a:gd name="adj" fmla="val 13636"/>
            </a:avLst>
          </a:prstGeom>
          <a:solidFill>
            <a:srgbClr val="0C274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016000" y="2235200"/>
            <a:ext cx="558800" cy="558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727200" y="2286000"/>
            <a:ext cx="254000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C2744"/>
                </a:solidFill>
                <a:latin typeface="微软雅黑"/>
                <a:ea typeface="微软雅黑"/>
                <a:cs typeface="微软雅黑"/>
                <a:sym typeface="微软雅黑"/>
              </a:rPr>
              <a:t>技术可行性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2946400"/>
            <a:ext cx="3149600" cy="2540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纯前端架构，HTML/CSS/JavaScript 实现，无需后端服务器。AI 能力调用第三方大模型 API（豆包/DeepSeek），OCR 使用 Tesseract.js 纯前端引擎。所有技术均为成熟方案，已实现可运行原型（单文件约 9486 行代码）。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55820" y="2032000"/>
            <a:ext cx="3556000" cy="3810000"/>
          </a:xfrm>
          <a:prstGeom prst="roundRect">
            <a:avLst>
              <a:gd name="adj" fmla="val 2857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B0F0">
                <a:alpha val="3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4848860" y="2235200"/>
            <a:ext cx="558800" cy="558800"/>
          </a:xfrm>
          <a:prstGeom prst="roundRect">
            <a:avLst>
              <a:gd name="adj" fmla="val 13636"/>
            </a:avLst>
          </a:prstGeom>
          <a:solidFill>
            <a:srgbClr val="7F7F7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4848860" y="2235200"/>
            <a:ext cx="558800" cy="558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5560060" y="2286000"/>
            <a:ext cx="254000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C2744"/>
                </a:solidFill>
                <a:latin typeface="微软雅黑"/>
                <a:ea typeface="微软雅黑"/>
                <a:cs typeface="微软雅黑"/>
                <a:sym typeface="微软雅黑"/>
              </a:rPr>
              <a:t>经济可行性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848860" y="2946400"/>
            <a:ext cx="3149600" cy="2540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开发成本低（纯前端，无需服务器运维）。API 调用成本按单位经济模型估算，单次答疑约 0.03–0.08 元，通过本地知识库分流和模型优化可进一步降低。详见经济价值页单位成本模型。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488680" y="2032000"/>
            <a:ext cx="3556000" cy="3810000"/>
          </a:xfrm>
          <a:prstGeom prst="roundRect">
            <a:avLst>
              <a:gd name="adj" fmla="val 2857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B0F0">
                <a:alpha val="3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8681720" y="2235200"/>
            <a:ext cx="558800" cy="558800"/>
          </a:xfrm>
          <a:prstGeom prst="roundRect">
            <a:avLst>
              <a:gd name="adj" fmla="val 13636"/>
            </a:avLst>
          </a:prstGeom>
          <a:solidFill>
            <a:srgbClr val="00B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8681720" y="2235200"/>
            <a:ext cx="558800" cy="558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392920" y="2286000"/>
            <a:ext cx="254000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C2744"/>
                </a:solidFill>
                <a:latin typeface="微软雅黑"/>
                <a:ea typeface="微软雅黑"/>
                <a:cs typeface="微软雅黑"/>
                <a:sym typeface="微软雅黑"/>
              </a:rPr>
              <a:t>操作可行性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681720" y="2946400"/>
            <a:ext cx="3149600" cy="2540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双击 HTML 即可运行，零部署门槛。用户自行配置 API Key，数据全部存储在本地浏览器，隐私风险低。OCR 引擎 CDN 按需动态加载（不阻塞首屏），加载失败自动回退为手动输入题目模式，不影响其余功能。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22960" y="6096000"/>
            <a:ext cx="11210544" cy="566928"/>
          </a:xfrm>
          <a:prstGeom prst="roundRect">
            <a:avLst>
              <a:gd name="adj" fmla="val 8960"/>
            </a:avLst>
          </a:prstGeom>
          <a:solidFill>
            <a:srgbClr val="0C274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822960" y="6096000"/>
            <a:ext cx="11210544" cy="566928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25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结论：技术成熟、成本可控、部署零门槛——三维度均已验证可行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22960" y="219456"/>
            <a:ext cx="6858000" cy="50292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000" b="0" i="0" u="none" strike="noStrike">
                <a:solidFill>
                  <a:srgbClr val="A6A6A6"/>
                </a:solidFill>
                <a:latin typeface="微软雅黑"/>
                <a:ea typeface="微软雅黑"/>
                <a:cs typeface="微软雅黑"/>
                <a:sym typeface="微软雅黑"/>
              </a:rPr>
              <a:t>02 解决方案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822960" y="731520"/>
            <a:ext cx="6858000" cy="25603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00" b="0" i="0" u="none" strike="noStrike" spc="200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ZHIXUEBAN · AI LEARNING COMPANION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822960" y="1024128"/>
            <a:ext cx="11210544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300" b="1" i="0" u="none" strike="noStrike">
                <a:solidFill>
                  <a:srgbClr val="0C2744"/>
                </a:solidFill>
                <a:latin typeface="微软雅黑"/>
                <a:ea typeface="微软雅黑"/>
                <a:cs typeface="微软雅黑"/>
                <a:sym typeface="微软雅黑"/>
              </a:rPr>
              <a:t>端到端案例：拍照批改高数作业全流程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822960" y="1481328"/>
            <a:ext cx="11210544" cy="292608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50" b="0" i="0" u="none" strike="noStrike">
                <a:solidFill>
                  <a:srgbClr val="8C8C8C"/>
                </a:solidFill>
                <a:latin typeface="微软雅黑"/>
                <a:ea typeface="微软雅黑"/>
                <a:cs typeface="微软雅黑"/>
                <a:sym typeface="微软雅黑"/>
              </a:rPr>
              <a:t>从拍照到诊断推荐，六步走通完整学习闭环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822960" y="2159000"/>
            <a:ext cx="1778000" cy="22860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B0F0">
                <a:alpha val="25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066800" y="2362200"/>
            <a:ext cx="457200" cy="457200"/>
          </a:xfrm>
          <a:prstGeom prst="roundRect">
            <a:avLst>
              <a:gd name="adj" fmla="val 13888"/>
            </a:avLst>
          </a:prstGeom>
          <a:solidFill>
            <a:srgbClr val="0C274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66800" y="2946400"/>
            <a:ext cx="13716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0C2744"/>
                </a:solidFill>
                <a:latin typeface="微软雅黑"/>
                <a:ea typeface="微软雅黑"/>
                <a:cs typeface="微软雅黑"/>
                <a:sym typeface="微软雅黑"/>
              </a:rPr>
              <a:t>拍照上传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66800" y="3276600"/>
            <a:ext cx="13716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 defTabSz="914400">
              <a:lnSpc>
                <a:spcPct val="116666"/>
              </a:lnSpc>
              <a:defRPr/>
            </a:pPr>
            <a:r>
              <a:rPr lang="en-US" sz="1000" b="0" i="0" u="none" strike="noStrike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学生点击"拍照上传"，拍摄作业照片或手动输入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2641600" y="3175000"/>
            <a:ext cx="254000" cy="203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8C8C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2946400" y="2159000"/>
            <a:ext cx="1778000" cy="22860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B0F0">
                <a:alpha val="25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3190240" y="2362200"/>
            <a:ext cx="457200" cy="457200"/>
          </a:xfrm>
          <a:prstGeom prst="roundRect">
            <a:avLst>
              <a:gd name="adj" fmla="val 13888"/>
            </a:avLst>
          </a:prstGeom>
          <a:solidFill>
            <a:srgbClr val="0C274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190240" y="2946400"/>
            <a:ext cx="13716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0C2744"/>
                </a:solidFill>
                <a:latin typeface="微软雅黑"/>
                <a:ea typeface="微软雅黑"/>
                <a:cs typeface="微软雅黑"/>
                <a:sym typeface="微软雅黑"/>
              </a:rPr>
              <a:t>OCR 识别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3190240" y="3276600"/>
            <a:ext cx="13716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 defTabSz="914400">
              <a:lnSpc>
                <a:spcPct val="116666"/>
              </a:lnSpc>
              <a:defRPr/>
            </a:pPr>
            <a:r>
              <a:rPr lang="en-US" sz="1000" b="0" i="0" u="none" strike="noStrike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Tesseract.js 识别题目文字，结果可编辑修正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765040" y="3175000"/>
            <a:ext cx="254000" cy="203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8C8C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5069840" y="2159000"/>
            <a:ext cx="1778000" cy="22860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B0F0">
                <a:alpha val="25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5313680" y="2362200"/>
            <a:ext cx="457200" cy="457200"/>
          </a:xfrm>
          <a:prstGeom prst="roundRect">
            <a:avLst>
              <a:gd name="adj" fmla="val 13888"/>
            </a:avLst>
          </a:prstGeom>
          <a:solidFill>
            <a:srgbClr val="0C274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5313680" y="2946400"/>
            <a:ext cx="13716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0C2744"/>
                </a:solidFill>
                <a:latin typeface="微软雅黑"/>
                <a:ea typeface="微软雅黑"/>
                <a:cs typeface="微软雅黑"/>
                <a:sym typeface="微软雅黑"/>
              </a:rPr>
              <a:t>题库匹配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5313680" y="3276600"/>
            <a:ext cx="13716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 defTabSz="914400">
              <a:lnSpc>
                <a:spcPct val="116666"/>
              </a:lnSpc>
              <a:defRPr/>
            </a:pPr>
            <a:r>
              <a:rPr lang="en-US" sz="1000" b="0" i="0" u="none" strike="noStrike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n-gram + 关键词加权算法匹配内置题库（双阈值）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888480" y="3175000"/>
            <a:ext cx="254000" cy="203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8C8C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7193280" y="2159000"/>
            <a:ext cx="1778000" cy="22860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B0F0">
                <a:alpha val="25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7437120" y="2362200"/>
            <a:ext cx="457200" cy="457200"/>
          </a:xfrm>
          <a:prstGeom prst="roundRect">
            <a:avLst>
              <a:gd name="adj" fmla="val 13888"/>
            </a:avLst>
          </a:prstGeom>
          <a:solidFill>
            <a:srgbClr val="00B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437120" y="2946400"/>
            <a:ext cx="13716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0C2744"/>
                </a:solidFill>
                <a:latin typeface="微软雅黑"/>
                <a:ea typeface="微软雅黑"/>
                <a:cs typeface="微软雅黑"/>
                <a:sym typeface="微软雅黑"/>
              </a:rPr>
              <a:t>填写解答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437120" y="3276600"/>
            <a:ext cx="13716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 defTabSz="914400">
              <a:lnSpc>
                <a:spcPct val="116666"/>
              </a:lnSpc>
              <a:defRPr/>
            </a:pPr>
            <a:r>
              <a:rPr lang="en-US" sz="1000" b="0" i="0" u="none" strike="noStrike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学生在答案框填写自己的解答，提交批改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9011920" y="3175000"/>
            <a:ext cx="254000" cy="203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8C8C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9316720" y="2159000"/>
            <a:ext cx="1778000" cy="22860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B0F0">
                <a:alpha val="25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9560560" y="2362200"/>
            <a:ext cx="457200" cy="457200"/>
          </a:xfrm>
          <a:prstGeom prst="roundRect">
            <a:avLst>
              <a:gd name="adj" fmla="val 13888"/>
            </a:avLst>
          </a:prstGeom>
          <a:solidFill>
            <a:srgbClr val="0C274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9560560" y="2946400"/>
            <a:ext cx="13716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0C2744"/>
                </a:solidFill>
                <a:latin typeface="微软雅黑"/>
                <a:ea typeface="微软雅黑"/>
                <a:cs typeface="微软雅黑"/>
                <a:sym typeface="微软雅黑"/>
              </a:rPr>
              <a:t>智能判题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9560560" y="3276600"/>
            <a:ext cx="13716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 defTabSz="914400">
              <a:lnSpc>
                <a:spcPct val="116666"/>
              </a:lnSpc>
              <a:defRPr/>
            </a:pPr>
            <a:r>
              <a:rPr lang="en-US" sz="1000" b="0" i="0" u="none" strike="noStrike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题库匹配题自动判题（支持浮点误差）；未匹配转 AI 生成解析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11120120" y="2159000"/>
            <a:ext cx="1778000" cy="2286000"/>
          </a:xfrm>
          <a:prstGeom prst="roundRect">
            <a:avLst>
              <a:gd name="adj" fmla="val 5714"/>
            </a:avLst>
          </a:prstGeom>
          <a:solidFill>
            <a:srgbClr val="EAF3FB">
              <a:alpha val="100000"/>
            </a:srgbClr>
          </a:solidFill>
          <a:ln w="12700" cap="flat" cmpd="sng">
            <a:solidFill>
              <a:srgbClr val="00B0F0">
                <a:alpha val="5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  <a:endParaRPr/>
          </a:p>
        </p:txBody>
      </p:sp>
      <p:sp>
        <p:nvSpPr>
          <p:cNvPr id="31" name="AutoShape 31"/>
          <p:cNvSpPr/>
          <p:nvPr/>
        </p:nvSpPr>
        <p:spPr>
          <a:xfrm>
            <a:off x="11363960" y="2362200"/>
            <a:ext cx="457200" cy="457200"/>
          </a:xfrm>
          <a:prstGeom prst="roundRect">
            <a:avLst>
              <a:gd name="adj" fmla="val 13888"/>
            </a:avLst>
          </a:prstGeom>
          <a:solidFill>
            <a:srgbClr val="00B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11363960" y="2946400"/>
            <a:ext cx="13716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0C2744"/>
                </a:solidFill>
                <a:latin typeface="微软雅黑"/>
                <a:ea typeface="微软雅黑"/>
                <a:cs typeface="微软雅黑"/>
                <a:sym typeface="微软雅黑"/>
              </a:rPr>
              <a:t>诊断归档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11363960" y="3276600"/>
            <a:ext cx="13716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 defTabSz="914400">
              <a:lnSpc>
                <a:spcPct val="116666"/>
              </a:lnSpc>
              <a:defRPr/>
            </a:pPr>
            <a:r>
              <a:rPr lang="en-US" sz="1000" b="0" i="0" u="none" strike="noStrike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诊断 Agent 分析错误类型，错题知识点关联学习路径，看板更新推荐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822960" y="4826000"/>
            <a:ext cx="11210544" cy="762000"/>
          </a:xfrm>
          <a:prstGeom prst="roundRect">
            <a:avLst>
              <a:gd name="adj" fmla="val 10000"/>
            </a:avLst>
          </a:prstGeom>
          <a:solidFill>
            <a:srgbClr val="FFF6E0">
              <a:alpha val="100000"/>
            </a:srgbClr>
          </a:solidFill>
          <a:ln w="12700" cap="flat" cmpd="sng">
            <a:solidFill>
              <a:srgbClr val="FFC00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  <a:endParaRPr/>
          </a:p>
        </p:txBody>
      </p:sp>
      <p:sp>
        <p:nvSpPr>
          <p:cNvPr id="35" name="AutoShape 35"/>
          <p:cNvSpPr/>
          <p:nvPr/>
        </p:nvSpPr>
        <p:spPr>
          <a:xfrm>
            <a:off x="1016000" y="4826000"/>
            <a:ext cx="10795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 defTabSz="914400">
              <a:lnSpc>
                <a:spcPct val="116666"/>
              </a:lnSpc>
              <a:defRPr/>
            </a:pPr>
            <a:r>
              <a:rPr lang="en-US" sz="1150" b="1" i="0" u="none" strike="noStrike">
                <a:solidFill>
                  <a:srgbClr val="B8860B"/>
                </a:solidFill>
                <a:latin typeface="微软雅黑"/>
                <a:ea typeface="微软雅黑"/>
                <a:cs typeface="微软雅黑"/>
                <a:sym typeface="微软雅黑"/>
              </a:rPr>
              <a:t>闭环价值 </a:t>
            </a:r>
            <a:r>
              <a:rPr lang="en-US" sz="1150" b="0" i="0" u="none" strike="noStrike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拍照 → OCR → 匹配 → 判题 → 诊断 → 推荐，六步走通"作业批改-错因分析-个性化学习"完整闭环。仅第 5 步智能判题在未匹配题库、转 AI 时需联网。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22960" y="219456"/>
            <a:ext cx="6858000" cy="5029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000" b="0" i="0" u="none" strike="noStrike">
                <a:solidFill>
                  <a:srgbClr val="A6A6A6"/>
                </a:solidFill>
                <a:latin typeface="微软雅黑"/>
                <a:ea typeface="微软雅黑"/>
                <a:cs typeface="微软雅黑"/>
                <a:sym typeface="微软雅黑"/>
              </a:rPr>
              <a:t>03 核心创新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822960" y="731520"/>
            <a:ext cx="6858000" cy="2560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00" b="0" i="0" u="none" strike="noStrike" spc="200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ZHIXUEBAN · AI LEARNING COMPANION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822960" y="1024128"/>
            <a:ext cx="11210544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300" b="1" i="0" u="none" strike="noStrike">
                <a:solidFill>
                  <a:srgbClr val="0C2744"/>
                </a:solidFill>
                <a:latin typeface="微软雅黑"/>
                <a:ea typeface="微软雅黑"/>
                <a:cs typeface="微软雅黑"/>
                <a:sym typeface="微软雅黑"/>
              </a:rPr>
              <a:t>核心创新一：多角色协作架构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822960" y="1481328"/>
            <a:ext cx="11210544" cy="29260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50" b="0" i="0" u="none" strike="noStrike">
                <a:solidFill>
                  <a:srgbClr val="8C8C8C"/>
                </a:solidFill>
                <a:latin typeface="微软雅黑"/>
                <a:ea typeface="微软雅黑"/>
                <a:cs typeface="微软雅黑"/>
                <a:sym typeface="微软雅黑"/>
              </a:rPr>
              <a:t>基于提示词工程的角色分工，MessageBus 传递上下文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822960" y="1965960"/>
            <a:ext cx="11210544" cy="457200"/>
          </a:xfrm>
          <a:prstGeom prst="rect">
            <a:avLst/>
          </a:prstGeom>
          <a:solidFill>
            <a:srgbClr val="EAF3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250" b="0" i="0" u="none" strike="noStrike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每个角色拥有独立系统提示词与职责定义，通过 MessageBus 消息总线传递上下文，五角色并行协作（核验∥诊断、规划∥情感两处并行）完成一次学习任务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22960" y="2743200"/>
            <a:ext cx="2121408" cy="73152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0C2744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822960" y="2743200"/>
            <a:ext cx="2121408" cy="7315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0C2744"/>
                </a:solidFill>
                <a:latin typeface="微软雅黑"/>
                <a:ea typeface="微软雅黑"/>
                <a:cs typeface="微软雅黑"/>
                <a:sym typeface="微软雅黑"/>
              </a:rPr>
              <a:t>答疑 Agent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847088" y="3474720"/>
            <a:ext cx="27432" cy="502920"/>
          </a:xfrm>
          <a:prstGeom prst="rect">
            <a:avLst/>
          </a:prstGeom>
          <a:solidFill>
            <a:srgbClr val="D9D9D9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3108960" y="2743200"/>
            <a:ext cx="2121408" cy="73152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0C2744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3108960" y="2743200"/>
            <a:ext cx="2121408" cy="7315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0C2744"/>
                </a:solidFill>
                <a:latin typeface="微软雅黑"/>
                <a:ea typeface="微软雅黑"/>
                <a:cs typeface="微软雅黑"/>
                <a:sym typeface="微软雅黑"/>
              </a:rPr>
              <a:t>诊断 Agent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133088" y="3474720"/>
            <a:ext cx="27432" cy="502920"/>
          </a:xfrm>
          <a:prstGeom prst="rect">
            <a:avLst/>
          </a:prstGeom>
          <a:solidFill>
            <a:srgbClr val="D9D9D9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5394960" y="2743200"/>
            <a:ext cx="2121408" cy="73152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0C2744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5394960" y="2743200"/>
            <a:ext cx="2121408" cy="7315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0C2744"/>
                </a:solidFill>
                <a:latin typeface="微软雅黑"/>
                <a:ea typeface="微软雅黑"/>
                <a:cs typeface="微软雅黑"/>
                <a:sym typeface="微软雅黑"/>
              </a:rPr>
              <a:t>规划 Agent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419088" y="3474720"/>
            <a:ext cx="27432" cy="502920"/>
          </a:xfrm>
          <a:prstGeom prst="rect">
            <a:avLst/>
          </a:prstGeom>
          <a:solidFill>
            <a:srgbClr val="D9D9D9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7680960" y="2743200"/>
            <a:ext cx="2121408" cy="73152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0C2744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7680960" y="2743200"/>
            <a:ext cx="2121408" cy="7315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0C2744"/>
                </a:solidFill>
                <a:latin typeface="微软雅黑"/>
                <a:ea typeface="微软雅黑"/>
                <a:cs typeface="微软雅黑"/>
                <a:sym typeface="微软雅黑"/>
              </a:rPr>
              <a:t>核验 Agent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705088" y="3474720"/>
            <a:ext cx="27432" cy="502920"/>
          </a:xfrm>
          <a:prstGeom prst="rect">
            <a:avLst/>
          </a:prstGeom>
          <a:solidFill>
            <a:srgbClr val="D9D9D9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9966960" y="2743200"/>
            <a:ext cx="2121408" cy="73152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0C2744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9966960" y="2743200"/>
            <a:ext cx="2121408" cy="7315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0C2744"/>
                </a:solidFill>
                <a:latin typeface="微软雅黑"/>
                <a:ea typeface="微软雅黑"/>
                <a:cs typeface="微软雅黑"/>
                <a:sym typeface="微软雅黑"/>
              </a:rPr>
              <a:t>情感 Agent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10991088" y="3474720"/>
            <a:ext cx="27432" cy="502920"/>
          </a:xfrm>
          <a:prstGeom prst="rect">
            <a:avLst/>
          </a:prstGeom>
          <a:solidFill>
            <a:srgbClr val="D9D9D9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3200400" y="3977640"/>
            <a:ext cx="6455664" cy="685800"/>
          </a:xfrm>
          <a:prstGeom prst="roundRect">
            <a:avLst>
              <a:gd name="adj" fmla="val 10666"/>
            </a:avLst>
          </a:prstGeom>
          <a:solidFill>
            <a:srgbClr val="0C2744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3200400" y="3977640"/>
            <a:ext cx="6455664" cy="685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MessageBus 消息总线 · 角色协同调度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22960" y="4937760"/>
            <a:ext cx="11210544" cy="4114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8C8C8C"/>
                </a:solidFill>
                <a:latin typeface="微软雅黑"/>
                <a:ea typeface="微软雅黑"/>
                <a:cs typeface="微软雅黑"/>
                <a:sym typeface="微软雅黑"/>
              </a:rPr>
              <a:t>纯前端单文件架构，约 9486 行 HTML/CSS/JavaScript，无需服务器，双击即可运行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822960" y="5577840"/>
            <a:ext cx="11210544" cy="777240"/>
          </a:xfrm>
          <a:prstGeom prst="roundRect">
            <a:avLst>
              <a:gd name="adj" fmla="val 7058"/>
            </a:avLst>
          </a:prstGeom>
          <a:solidFill>
            <a:srgbClr val="FFF6E0">
              <a:alpha val="100000"/>
            </a:srgbClr>
          </a:solidFill>
          <a:ln w="12700">
            <a:solidFill>
              <a:srgbClr val="FFC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987552" y="5577840"/>
            <a:ext cx="10881360" cy="7772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16666"/>
              </a:lnSpc>
              <a:defRPr/>
            </a:pPr>
            <a:r>
              <a:rPr lang="en-US" sz="1100" b="1" i="0" u="none" strike="noStrike">
                <a:solidFill>
                  <a:srgbClr val="B8860B"/>
                </a:solidFill>
                <a:latin typeface="微软雅黑"/>
                <a:ea typeface="微软雅黑"/>
                <a:cs typeface="微软雅黑"/>
                <a:sym typeface="微软雅黑"/>
              </a:rPr>
              <a:t>声明  </a:t>
            </a:r>
            <a:r>
              <a:rPr lang="en-US" sz="1150" b="0" i="0" u="none" strike="noStrike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当前多角色协作为基于提示词工程的角色分工，尚未实现协商与反思机制——这是教育智能体下一阶段的关键演进方向（详见「可信设计与边界」）。</a:t>
            </a:r>
            <a:endParaRPr lang="en-US" sz="1100"/>
          </a:p>
        </p:txBody>
      </p:sp>
    </p:spTree>
  </p:cSld>
  <p:clrMapOvr>
    <a:masterClrMapping/>
  </p:clrMapOvr>
  <p:transition spd="slow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22960" y="219456"/>
            <a:ext cx="6858000" cy="5029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000" b="0" i="0" u="none" strike="noStrike">
                <a:solidFill>
                  <a:srgbClr val="A6A6A6"/>
                </a:solidFill>
                <a:latin typeface="微软雅黑"/>
                <a:ea typeface="微软雅黑"/>
                <a:cs typeface="微软雅黑"/>
                <a:sym typeface="微软雅黑"/>
              </a:rPr>
              <a:t>03 核心创新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822960" y="731520"/>
            <a:ext cx="6858000" cy="2560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00" b="0" i="0" u="none" strike="noStrike" spc="200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ZHIXUEBAN · AI LEARNING COMPANION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822960" y="1024128"/>
            <a:ext cx="11210544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300" b="1" i="0" u="none" strike="noStrike">
                <a:solidFill>
                  <a:srgbClr val="0C2744"/>
                </a:solidFill>
                <a:latin typeface="微软雅黑"/>
                <a:ea typeface="微软雅黑"/>
                <a:cs typeface="微软雅黑"/>
                <a:sym typeface="微软雅黑"/>
              </a:rPr>
              <a:t>核心创新二：苏格拉底引导式教学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822960" y="1481328"/>
            <a:ext cx="11210544" cy="29260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50" b="0" i="0" u="none" strike="noStrike">
                <a:solidFill>
                  <a:srgbClr val="8C8C8C"/>
                </a:solidFill>
                <a:latin typeface="微软雅黑"/>
                <a:ea typeface="微软雅黑"/>
                <a:cs typeface="微软雅黑"/>
                <a:sym typeface="微软雅黑"/>
              </a:rPr>
              <a:t>不只是给答案，而是培养思维能力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822960" y="1920240"/>
            <a:ext cx="82296" cy="310896"/>
          </a:xfrm>
          <a:prstGeom prst="rect">
            <a:avLst/>
          </a:prstGeom>
          <a:solidFill>
            <a:srgbClr val="00B0F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005840" y="1874520"/>
            <a:ext cx="7315200" cy="40233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200" b="1" i="0" u="none" strike="noStrike">
                <a:solidFill>
                  <a:srgbClr val="0C2744"/>
                </a:solidFill>
                <a:latin typeface="微软雅黑"/>
                <a:ea typeface="微软雅黑"/>
                <a:cs typeface="微软雅黑"/>
                <a:sym typeface="微软雅黑"/>
              </a:rPr>
              <a:t>四步引导法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22960" y="242316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C2744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822960" y="2423160"/>
            <a:ext cx="548640" cy="5486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536192" y="2423160"/>
            <a:ext cx="4846320" cy="5486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8333"/>
              </a:lnSpc>
              <a:defRPr/>
            </a:pPr>
            <a:r>
              <a:rPr lang="en-US" sz="1250" b="0" i="0" u="none" strike="noStrike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启发提问：了解思路，识别知识盲点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22960" y="3264408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7F7F7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822960" y="3264408"/>
            <a:ext cx="548640" cy="5486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536192" y="3264408"/>
            <a:ext cx="4846320" cy="5486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8333"/>
              </a:lnSpc>
              <a:defRPr/>
            </a:pPr>
            <a:r>
              <a:rPr lang="en-US" sz="1250" b="0" i="0" u="none" strike="noStrike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逐步揭示知识点：搭建思维阶梯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22960" y="4105656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C2744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822960" y="4105656"/>
            <a:ext cx="548640" cy="5486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536192" y="4105656"/>
            <a:ext cx="4846320" cy="5486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8333"/>
              </a:lnSpc>
              <a:defRPr/>
            </a:pPr>
            <a:r>
              <a:rPr lang="en-US" sz="1250" b="0" i="0" u="none" strike="noStrike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适时给提示：突破思维瓶颈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22960" y="4946904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7F7F7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822960" y="4946904"/>
            <a:ext cx="548640" cy="5486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536192" y="4946904"/>
            <a:ext cx="4846320" cy="5486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8333"/>
              </a:lnSpc>
              <a:defRPr/>
            </a:pPr>
            <a:r>
              <a:rPr lang="en-US" sz="1250" b="0" i="0" u="none" strike="noStrike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鼓励肯定思考：形成方法体系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492240" y="1920240"/>
            <a:ext cx="82296" cy="310896"/>
          </a:xfrm>
          <a:prstGeom prst="rect">
            <a:avLst/>
          </a:prstGeom>
          <a:solidFill>
            <a:srgbClr val="00B0F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6675120" y="1874520"/>
            <a:ext cx="6137453" cy="40233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200" b="1" i="0" u="none" strike="noStrike">
                <a:solidFill>
                  <a:srgbClr val="0C2744"/>
                </a:solidFill>
                <a:latin typeface="微软雅黑"/>
                <a:ea typeface="微软雅黑"/>
                <a:cs typeface="微软雅黑"/>
                <a:sym typeface="微软雅黑"/>
              </a:rPr>
              <a:t>引导式答疑示例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492240" y="2423160"/>
            <a:ext cx="5541264" cy="603504"/>
          </a:xfrm>
          <a:prstGeom prst="roundRect">
            <a:avLst>
              <a:gd name="adj" fmla="val 12120"/>
            </a:avLst>
          </a:prstGeom>
          <a:solidFill>
            <a:srgbClr val="F5F5F5">
              <a:alpha val="100000"/>
            </a:srgbClr>
          </a:solidFill>
          <a:ln w="12700">
            <a:solidFill>
              <a:srgbClr val="D9D9D9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6620256" y="2478024"/>
            <a:ext cx="5285232" cy="49377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8333"/>
              </a:lnSpc>
              <a:defRPr/>
            </a:pPr>
            <a:r>
              <a:rPr lang="en-US" sz="1100" b="1" i="0" u="none" strike="noStrike">
                <a:solidFill>
                  <a:srgbClr val="7F7F7F"/>
                </a:solidFill>
                <a:latin typeface="微软雅黑"/>
                <a:ea typeface="微软雅黑"/>
                <a:cs typeface="微软雅黑"/>
                <a:sym typeface="微软雅黑"/>
              </a:rPr>
              <a:t>学生：</a:t>
            </a:r>
            <a:r>
              <a:rPr lang="en-US" sz="1100" b="0" i="0" u="none" strike="noStrike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函数极值怎么求？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492240" y="3136392"/>
            <a:ext cx="5541264" cy="603504"/>
          </a:xfrm>
          <a:prstGeom prst="roundRect">
            <a:avLst>
              <a:gd name="adj" fmla="val 12120"/>
            </a:avLst>
          </a:prstGeom>
          <a:solidFill>
            <a:srgbClr val="EAF3FB">
              <a:alpha val="100000"/>
            </a:srgbClr>
          </a:solidFill>
          <a:ln w="12700">
            <a:solidFill>
              <a:srgbClr val="BBD8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6620256" y="3191256"/>
            <a:ext cx="5285232" cy="49377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8333"/>
              </a:lnSpc>
              <a:defRPr/>
            </a:pPr>
            <a:r>
              <a:rPr lang="en-US" sz="1100" b="1" i="0" u="none" strike="noStrike">
                <a:solidFill>
                  <a:srgbClr val="0C2744"/>
                </a:solidFill>
                <a:latin typeface="微软雅黑"/>
                <a:ea typeface="微软雅黑"/>
                <a:cs typeface="微软雅黑"/>
                <a:sym typeface="微软雅黑"/>
              </a:rPr>
              <a:t>小智老师：</a:t>
            </a:r>
            <a:r>
              <a:rPr lang="en-US" sz="1100" b="0" i="0" u="none" strike="noStrike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好问题！先思考：极值点处导数有什么特点？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492240" y="3849624"/>
            <a:ext cx="5541264" cy="603504"/>
          </a:xfrm>
          <a:prstGeom prst="roundRect">
            <a:avLst>
              <a:gd name="adj" fmla="val 12120"/>
            </a:avLst>
          </a:prstGeom>
          <a:solidFill>
            <a:srgbClr val="F5F5F5">
              <a:alpha val="100000"/>
            </a:srgbClr>
          </a:solidFill>
          <a:ln w="12700">
            <a:solidFill>
              <a:srgbClr val="D9D9D9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6620256" y="3904488"/>
            <a:ext cx="5285232" cy="49377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8333"/>
              </a:lnSpc>
              <a:defRPr/>
            </a:pPr>
            <a:r>
              <a:rPr lang="en-US" sz="1100" b="1" i="0" u="none" strike="noStrike">
                <a:solidFill>
                  <a:srgbClr val="7F7F7F"/>
                </a:solidFill>
                <a:latin typeface="微软雅黑"/>
                <a:ea typeface="微软雅黑"/>
                <a:cs typeface="微软雅黑"/>
                <a:sym typeface="微软雅黑"/>
              </a:rPr>
              <a:t>学生：</a:t>
            </a:r>
            <a:r>
              <a:rPr lang="en-US" sz="1100" b="0" i="0" u="none" strike="noStrike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导数等于 0？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492240" y="4562856"/>
            <a:ext cx="5541264" cy="603504"/>
          </a:xfrm>
          <a:prstGeom prst="roundRect">
            <a:avLst>
              <a:gd name="adj" fmla="val 12120"/>
            </a:avLst>
          </a:prstGeom>
          <a:solidFill>
            <a:srgbClr val="EAF3FB">
              <a:alpha val="100000"/>
            </a:srgbClr>
          </a:solidFill>
          <a:ln w="12700">
            <a:solidFill>
              <a:srgbClr val="BBD8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9" name="AutoShape 29"/>
          <p:cNvSpPr/>
          <p:nvPr/>
        </p:nvSpPr>
        <p:spPr>
          <a:xfrm>
            <a:off x="6620256" y="4617720"/>
            <a:ext cx="5285232" cy="49377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8333"/>
              </a:lnSpc>
              <a:defRPr/>
            </a:pPr>
            <a:r>
              <a:rPr lang="en-US" sz="1100" b="1" i="0" u="none" strike="noStrike">
                <a:solidFill>
                  <a:srgbClr val="0C2744"/>
                </a:solidFill>
                <a:latin typeface="微软雅黑"/>
                <a:ea typeface="微软雅黑"/>
                <a:cs typeface="微软雅黑"/>
                <a:sym typeface="微软雅黑"/>
              </a:rPr>
              <a:t>小智老师：</a:t>
            </a:r>
            <a:r>
              <a:rPr lang="en-US" sz="1100" b="0" i="0" u="none" strike="noStrike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没错！那 f'(x)=0 的点一定是极值点吗？举例说明。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6492240" y="5276088"/>
            <a:ext cx="5541264" cy="603504"/>
          </a:xfrm>
          <a:prstGeom prst="roundRect">
            <a:avLst>
              <a:gd name="adj" fmla="val 12120"/>
            </a:avLst>
          </a:prstGeom>
          <a:solidFill>
            <a:srgbClr val="F5F5F5">
              <a:alpha val="100000"/>
            </a:srgbClr>
          </a:solidFill>
          <a:ln w="12700">
            <a:solidFill>
              <a:srgbClr val="D9D9D9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31" name="AutoShape 31"/>
          <p:cNvSpPr/>
          <p:nvPr/>
        </p:nvSpPr>
        <p:spPr>
          <a:xfrm>
            <a:off x="6620256" y="5330952"/>
            <a:ext cx="5285232" cy="49377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8333"/>
              </a:lnSpc>
              <a:defRPr/>
            </a:pPr>
            <a:r>
              <a:rPr lang="en-US" sz="1100" b="1" i="0" u="none" strike="noStrike">
                <a:solidFill>
                  <a:srgbClr val="7F7F7F"/>
                </a:solidFill>
                <a:latin typeface="微软雅黑"/>
                <a:ea typeface="微软雅黑"/>
                <a:cs typeface="微软雅黑"/>
                <a:sym typeface="微软雅黑"/>
              </a:rPr>
              <a:t>学生：</a:t>
            </a:r>
            <a:r>
              <a:rPr lang="en-US" sz="1100" b="0" i="0" u="none" strike="noStrike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不一定，如 f(x)=x³，f'(0)=0 但不是极值点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822960" y="5943600"/>
            <a:ext cx="11210544" cy="502920"/>
          </a:xfrm>
          <a:prstGeom prst="rect">
            <a:avLst/>
          </a:prstGeom>
          <a:solidFill>
            <a:srgbClr val="FFF6E0">
              <a:alpha val="100000"/>
            </a:srgbClr>
          </a:solidFill>
          <a:ln w="12700">
            <a:solidFill>
              <a:srgbClr val="FFC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150" b="0" i="0" u="none" strike="noStrike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引导式模式下不显示核验报告和诊断详情，避免泄露完整答案，确保「不直接给答案」的承诺成立</a:t>
            </a:r>
            <a:endParaRPr lang="en-US" sz="110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childTnLst>
                        <p:par>
                          <p:cTn id="9" fill="hold">
                            <p:childTnLst>
                              <p:par>
                                <p:cTn id="10" presetID="10" presetClass="entr" presetSubtype="0" repeatCount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childTnLst>
                        <p:par>
                          <p:cTn id="14" fill="hold">
                            <p:childTnLst>
                              <p:par>
                                <p:cTn id="15" presetID="10" presetClass="entr" presetSubtype="0" repeatCount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childTnLst>
                        <p:par>
                          <p:cTn id="19" fill="hold">
                            <p:childTnLst>
                              <p:par>
                                <p:cTn id="20" presetID="10" presetClass="entr" presetSubtype="0" repeatCount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childTnLst>
                        <p:par>
                          <p:cTn id="24" fill="hold">
                            <p:childTnLst>
                              <p:par>
                                <p:cTn id="25" presetID="10" presetClass="entr" presetSubtype="0" repeatCount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22960" y="219456"/>
            <a:ext cx="6858000" cy="5029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000" b="0" i="0" u="none" strike="noStrike">
                <a:solidFill>
                  <a:srgbClr val="A6A6A6"/>
                </a:solidFill>
                <a:latin typeface="微软雅黑"/>
                <a:ea typeface="微软雅黑"/>
                <a:cs typeface="微软雅黑"/>
                <a:sym typeface="微软雅黑"/>
              </a:rPr>
              <a:t>03 核心创新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822960" y="731520"/>
            <a:ext cx="6858000" cy="2560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00" b="0" i="0" u="none" strike="noStrike" spc="200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ZHIXUEBAN · AI LEARNING COMPANION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822960" y="1024128"/>
            <a:ext cx="11210544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300" b="1" i="0" u="none" strike="noStrike">
                <a:solidFill>
                  <a:srgbClr val="0C2744"/>
                </a:solidFill>
                <a:latin typeface="微软雅黑"/>
                <a:ea typeface="微软雅黑"/>
                <a:cs typeface="微软雅黑"/>
                <a:sym typeface="微软雅黑"/>
              </a:rPr>
              <a:t>核心创新三：思维链可视化 + 知识溯源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822960" y="1481328"/>
            <a:ext cx="11210544" cy="29260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50" b="0" i="0" u="none" strike="noStrike">
                <a:solidFill>
                  <a:srgbClr val="8C8C8C"/>
                </a:solidFill>
                <a:latin typeface="微软雅黑"/>
                <a:ea typeface="微软雅黑"/>
                <a:cs typeface="微软雅黑"/>
                <a:sym typeface="微软雅黑"/>
              </a:rPr>
              <a:t>让 AI 的推理过程可见、答案来源可查（思维链 5 步分步演示）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822960" y="1920240"/>
            <a:ext cx="82296" cy="310896"/>
          </a:xfrm>
          <a:prstGeom prst="rect">
            <a:avLst/>
          </a:prstGeom>
          <a:solidFill>
            <a:srgbClr val="00B0F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005840" y="1874520"/>
            <a:ext cx="7315200" cy="40233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200" b="1" i="0" u="none" strike="noStrike">
                <a:solidFill>
                  <a:srgbClr val="0C2744"/>
                </a:solidFill>
                <a:latin typeface="微软雅黑"/>
                <a:ea typeface="微软雅黑"/>
                <a:cs typeface="微软雅黑"/>
                <a:sym typeface="微软雅黑"/>
              </a:rPr>
              <a:t>思维链可视化（破除 AI 黑盒）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22960" y="242316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C2744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822960" y="2423160"/>
            <a:ext cx="475488" cy="4754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426464" y="2423160"/>
            <a:ext cx="5029200" cy="4754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150" b="0" i="0" u="none" strike="noStrike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问题理解：识别问题类型，提取关键词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42416" y="2898648"/>
            <a:ext cx="27432" cy="237744"/>
          </a:xfrm>
          <a:prstGeom prst="rect">
            <a:avLst/>
          </a:prstGeom>
          <a:solidFill>
            <a:srgbClr val="D9D9D9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822960" y="3136392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C2744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822960" y="3136392"/>
            <a:ext cx="475488" cy="4754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426464" y="3136392"/>
            <a:ext cx="5029200" cy="4754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150" b="0" i="0" u="none" strike="noStrike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知识匹配：匹配知识库相关知识点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042416" y="3611880"/>
            <a:ext cx="27432" cy="237744"/>
          </a:xfrm>
          <a:prstGeom prst="rect">
            <a:avLst/>
          </a:prstGeom>
          <a:solidFill>
            <a:srgbClr val="D9D9D9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822960" y="3849624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C2744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822960" y="3849624"/>
            <a:ext cx="475488" cy="4754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426464" y="3849624"/>
            <a:ext cx="5029200" cy="4754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150" b="0" i="0" u="none" strike="noStrike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方法选择：评估学生水平，选择引导深度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042416" y="4325112"/>
            <a:ext cx="27432" cy="237744"/>
          </a:xfrm>
          <a:prstGeom prst="rect">
            <a:avLst/>
          </a:prstGeom>
          <a:solidFill>
            <a:srgbClr val="D9D9D9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822960" y="4562856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C2744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822960" y="4562856"/>
            <a:ext cx="475488" cy="4754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1426464" y="4562856"/>
            <a:ext cx="5029200" cy="4754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150" b="0" i="0" u="none" strike="noStrike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解答生成：生成详细解题步骤和答案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1042416" y="5038344"/>
            <a:ext cx="27432" cy="237744"/>
          </a:xfrm>
          <a:prstGeom prst="rect">
            <a:avLst/>
          </a:prstGeom>
          <a:solidFill>
            <a:srgbClr val="D9D9D9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822960" y="527608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0B0F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822960" y="5276088"/>
            <a:ext cx="475488" cy="4754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1426464" y="5276088"/>
            <a:ext cx="5029200" cy="475488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150" b="0" i="0" u="none" strike="noStrike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来源标注（由知识点匹配生成）+ 核验 Agent 复核提示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492240" y="1920240"/>
            <a:ext cx="82296" cy="310896"/>
          </a:xfrm>
          <a:prstGeom prst="rect">
            <a:avLst/>
          </a:prstGeom>
          <a:solidFill>
            <a:srgbClr val="00B0F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8" name="AutoShape 28"/>
          <p:cNvSpPr/>
          <p:nvPr/>
        </p:nvSpPr>
        <p:spPr>
          <a:xfrm>
            <a:off x="6675120" y="1874520"/>
            <a:ext cx="6137453" cy="40233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200" b="1" i="0" u="none" strike="noStrike">
                <a:solidFill>
                  <a:srgbClr val="0C2744"/>
                </a:solidFill>
                <a:latin typeface="微软雅黑"/>
                <a:ea typeface="微软雅黑"/>
                <a:cs typeface="微软雅黑"/>
                <a:sym typeface="微软雅黑"/>
              </a:rPr>
              <a:t>知识溯源（可信 AI 教育）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492240" y="2423160"/>
            <a:ext cx="5541264" cy="960120"/>
          </a:xfrm>
          <a:prstGeom prst="roundRect">
            <a:avLst>
              <a:gd name="adj" fmla="val 0"/>
            </a:avLst>
          </a:prstGeom>
          <a:solidFill>
            <a:srgbClr val="E8E8E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来源标注：由知识点匹配生成，标注对应教材章节与知识图谱节点，使答案来源可追溯、便于核对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6492240" y="3520440"/>
            <a:ext cx="5541264" cy="960120"/>
          </a:xfrm>
          <a:prstGeom prst="rect">
            <a:avLst/>
          </a:prstGeom>
          <a:solidFill>
            <a:srgbClr val="E8E8E8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复核提示：核验 Agent 对答疑结果做辅助复核并给出提示，减少明显错误——但非严格验证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6492240" y="4663440"/>
            <a:ext cx="5541264" cy="1325880"/>
          </a:xfrm>
          <a:prstGeom prst="roundRect">
            <a:avLst>
              <a:gd name="adj" fmla="val 4138"/>
            </a:avLst>
          </a:prstGeom>
          <a:solidFill>
            <a:srgbClr val="FFF6E0">
              <a:alpha val="100000"/>
            </a:srgbClr>
          </a:solidFill>
          <a:ln w="12700">
            <a:solidFill>
              <a:srgbClr val="FFC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32" name="AutoShape 32"/>
          <p:cNvSpPr/>
          <p:nvPr/>
        </p:nvSpPr>
        <p:spPr>
          <a:xfrm>
            <a:off x="6656832" y="4663440"/>
            <a:ext cx="5212080" cy="132588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 defTabSz="914400">
              <a:lnSpc>
                <a:spcPct val="116666"/>
              </a:lnSpc>
              <a:defRPr/>
            </a:pPr>
            <a:r>
              <a:rPr lang="en-US" sz="1100" b="1" i="0" u="none" strike="noStrike">
                <a:solidFill>
                  <a:srgbClr val="B8860B"/>
                </a:solidFill>
                <a:latin typeface="微软雅黑"/>
                <a:ea typeface="微软雅黑"/>
                <a:cs typeface="微软雅黑"/>
                <a:sym typeface="微软雅黑"/>
              </a:rPr>
              <a:t>声明 </a:t>
            </a:r>
            <a:r>
              <a:rPr lang="en-US" sz="1100" b="0" i="0" u="none" strike="noStrike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本地模式下思维链为模板生成、非真实推理过程，API 模式下为大模型生成；来源标注与复核提示不能完全消除大模型幻觉，真正的做法是 RAG（从可信教材片段检索后生成并给出出处），下一步计划实现。</a:t>
            </a:r>
            <a:endParaRPr lang="en-US" sz="110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childTnLst>
                        <p:par>
                          <p:cTn id="12" fill="hold">
                            <p:childTnLst>
                              <p:par>
                                <p:cTn id="13" presetID="10" presetClass="entr" presetSubtype="0" repeatCount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childTnLst>
                        <p:par>
                          <p:cTn id="20" fill="hold">
                            <p:childTnLst>
                              <p:par>
                                <p:cTn id="21" presetID="10" presetClass="entr" presetSubtype="0" repeatCount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childTnLst>
                        <p:par>
                          <p:cTn id="28" fill="hold">
                            <p:childTnLst>
                              <p:par>
                                <p:cTn id="29" presetID="10" presetClass="entr" presetSubtype="0" repeatCount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childTnLst>
                        <p:par>
                          <p:cTn id="36" fill="hold">
                            <p:childTnLst>
                              <p:par>
                                <p:cTn id="37" presetID="10" presetClass="entr" presetSubtype="0" repeatCount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22960" y="219456"/>
            <a:ext cx="6858000" cy="5029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000" b="0" i="0" u="none" strike="noStrike">
                <a:solidFill>
                  <a:srgbClr val="A6A6A6"/>
                </a:solidFill>
                <a:latin typeface="微软雅黑"/>
                <a:ea typeface="微软雅黑"/>
                <a:cs typeface="微软雅黑"/>
                <a:sym typeface="微软雅黑"/>
              </a:rPr>
              <a:t>04 技术方案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822960" y="731520"/>
            <a:ext cx="6858000" cy="2560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00" b="0" i="0" u="none" strike="noStrike" spc="200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ZHIXUEBAN · AI LEARNING COMPANION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822960" y="1024128"/>
            <a:ext cx="11210544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300" b="1" i="0" u="none" strike="noStrike">
                <a:solidFill>
                  <a:srgbClr val="0C2744"/>
                </a:solidFill>
                <a:latin typeface="微软雅黑"/>
                <a:ea typeface="微软雅黑"/>
                <a:cs typeface="微软雅黑"/>
                <a:sym typeface="微软雅黑"/>
              </a:rPr>
              <a:t>系统技术架构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822960" y="1481328"/>
            <a:ext cx="11210544" cy="29260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50" b="0" i="0" u="none" strike="noStrike">
                <a:solidFill>
                  <a:srgbClr val="8C8C8C"/>
                </a:solidFill>
                <a:latin typeface="微软雅黑"/>
                <a:ea typeface="微软雅黑"/>
                <a:cs typeface="微软雅黑"/>
                <a:sym typeface="微软雅黑"/>
              </a:rPr>
              <a:t>五层架构，纯前端单文件，零部署门槛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822960" y="2011680"/>
            <a:ext cx="2377440" cy="640080"/>
          </a:xfrm>
          <a:prstGeom prst="roundRect">
            <a:avLst>
              <a:gd name="adj" fmla="val 8571"/>
            </a:avLst>
          </a:prstGeom>
          <a:solidFill>
            <a:srgbClr val="0C2744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822960" y="2011680"/>
            <a:ext cx="2377440" cy="6400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应用层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3429000" y="2011680"/>
            <a:ext cx="8604504" cy="640080"/>
          </a:xfrm>
          <a:prstGeom prst="roundRect">
            <a:avLst>
              <a:gd name="adj" fmla="val 8571"/>
            </a:avLst>
          </a:prstGeom>
          <a:solidFill>
            <a:srgbClr val="E8E8E8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3611880" y="2011680"/>
            <a:ext cx="8229600" cy="6400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8333"/>
              </a:lnSpc>
              <a:defRPr/>
            </a:pPr>
            <a:r>
              <a:rPr lang="en-US" sz="1150" b="0" i="0" u="none" strike="noStrike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Web 端响应式单页应用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22960" y="2816352"/>
            <a:ext cx="2377440" cy="640080"/>
          </a:xfrm>
          <a:prstGeom prst="roundRect">
            <a:avLst>
              <a:gd name="adj" fmla="val 8571"/>
            </a:avLst>
          </a:prstGeom>
          <a:solidFill>
            <a:srgbClr val="0C2744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822960" y="2816352"/>
            <a:ext cx="2377440" cy="6400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多角色协作层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429000" y="2816352"/>
            <a:ext cx="8604504" cy="640080"/>
          </a:xfrm>
          <a:prstGeom prst="roundRect">
            <a:avLst>
              <a:gd name="adj" fmla="val 8571"/>
            </a:avLst>
          </a:prstGeom>
          <a:solidFill>
            <a:srgbClr val="E8E8E8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3611880" y="2816352"/>
            <a:ext cx="8229600" cy="6400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8333"/>
              </a:lnSpc>
              <a:defRPr/>
            </a:pPr>
            <a:r>
              <a:rPr lang="en-US" sz="1150" b="0" i="0" u="none" strike="noStrike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答疑/诊断/规划/核验/情感 五角色基于 MessageBus 协同（订阅/发布/历史记录）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22960" y="3621024"/>
            <a:ext cx="2377440" cy="640080"/>
          </a:xfrm>
          <a:prstGeom prst="roundRect">
            <a:avLst>
              <a:gd name="adj" fmla="val 8571"/>
            </a:avLst>
          </a:prstGeom>
          <a:solidFill>
            <a:srgbClr val="0C2744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822960" y="3621024"/>
            <a:ext cx="2377440" cy="6400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AI 引擎层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3429000" y="3621024"/>
            <a:ext cx="8604504" cy="640080"/>
          </a:xfrm>
          <a:prstGeom prst="roundRect">
            <a:avLst>
              <a:gd name="adj" fmla="val 8571"/>
            </a:avLst>
          </a:prstGeom>
          <a:solidFill>
            <a:srgbClr val="E8E8E8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3611880" y="3621024"/>
            <a:ext cx="8229600" cy="6400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8333"/>
              </a:lnSpc>
              <a:defRPr/>
            </a:pPr>
            <a:r>
              <a:rPr lang="en-US" sz="1150" b="0" i="0" u="none" strike="noStrike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豆包 API / DeepSeek API（双模型）｜ Tesseract.js OCR 引擎 ｜ n-gram+关键词加权匹配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22960" y="4425696"/>
            <a:ext cx="2377440" cy="640080"/>
          </a:xfrm>
          <a:prstGeom prst="roundRect">
            <a:avLst>
              <a:gd name="adj" fmla="val 8571"/>
            </a:avLst>
          </a:prstGeom>
          <a:solidFill>
            <a:srgbClr val="0C2744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822960" y="4425696"/>
            <a:ext cx="2377440" cy="6400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数据层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3429000" y="4425696"/>
            <a:ext cx="8604504" cy="640080"/>
          </a:xfrm>
          <a:prstGeom prst="roundRect">
            <a:avLst>
              <a:gd name="adj" fmla="val 8571"/>
            </a:avLst>
          </a:prstGeom>
          <a:solidFill>
            <a:srgbClr val="E8E8E8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3611880" y="4425696"/>
            <a:ext cx="8229600" cy="6400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8333"/>
              </a:lnSpc>
              <a:defRPr/>
            </a:pPr>
            <a:r>
              <a:rPr lang="en-US" sz="1150" b="0" i="0" u="none" strike="noStrike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localStorage 本地持久化 ｜ 内置精选题库 95 题 ｜ 学科知识库 124 词条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822960" y="5230368"/>
            <a:ext cx="2377440" cy="640080"/>
          </a:xfrm>
          <a:prstGeom prst="roundRect">
            <a:avLst>
              <a:gd name="adj" fmla="val 8571"/>
            </a:avLst>
          </a:prstGeom>
          <a:solidFill>
            <a:srgbClr val="7F7F7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822960" y="5230368"/>
            <a:ext cx="2377440" cy="6400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基础设施层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3429000" y="5230368"/>
            <a:ext cx="8604504" cy="640080"/>
          </a:xfrm>
          <a:prstGeom prst="roundRect">
            <a:avLst>
              <a:gd name="adj" fmla="val 8571"/>
            </a:avLst>
          </a:prstGeom>
          <a:solidFill>
            <a:srgbClr val="E8E8E8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3611880" y="5230368"/>
            <a:ext cx="8229600" cy="6400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8333"/>
              </a:lnSpc>
              <a:defRPr/>
            </a:pPr>
            <a:r>
              <a:rPr lang="en-US" sz="1150" b="0" i="0" u="none" strike="noStrike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纯静态 HTML/CSS/JavaScript 单文件 ｜ 无需服务器 ｜ 双击即可运行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22960" y="6126480"/>
            <a:ext cx="11210544" cy="411480"/>
          </a:xfrm>
          <a:prstGeom prst="rect">
            <a:avLst/>
          </a:prstGeom>
          <a:solidFill>
            <a:srgbClr val="0C2744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15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技术栈：HTML5 + CSS3 + Vanilla JavaScript（单文件约 9486 行）｜ 豆包/DeepSeek API ｜ Tesseract.js ｜ MessageBus ｜ localStorage</a:t>
            </a:r>
            <a:endParaRPr lang="en-US" sz="1100"/>
          </a:p>
        </p:txBody>
      </p:sp>
    </p:spTree>
  </p:cSld>
  <p:clrMapOvr>
    <a:masterClrMapping/>
  </p:clrMapOvr>
  <p:transition spd="slow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22960" y="219456"/>
            <a:ext cx="6858000" cy="5029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000" b="0" i="0" u="none" strike="noStrike">
                <a:solidFill>
                  <a:srgbClr val="A6A6A6"/>
                </a:solidFill>
                <a:latin typeface="微软雅黑"/>
                <a:ea typeface="微软雅黑"/>
                <a:cs typeface="微软雅黑"/>
                <a:sym typeface="微软雅黑"/>
              </a:rPr>
              <a:t>04 技术方案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822960" y="731520"/>
            <a:ext cx="6858000" cy="2560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00" b="0" i="0" u="none" strike="noStrike" spc="200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ZHIXUEBAN · AI LEARNING COMPANION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822960" y="1024128"/>
            <a:ext cx="11210544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300" b="1" i="0" u="none" strike="noStrike">
                <a:solidFill>
                  <a:srgbClr val="0C2744"/>
                </a:solidFill>
                <a:latin typeface="微软雅黑"/>
                <a:ea typeface="微软雅黑"/>
                <a:cs typeface="微软雅黑"/>
                <a:sym typeface="微软雅黑"/>
              </a:rPr>
              <a:t>核心算法与数据使用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822960" y="1481328"/>
            <a:ext cx="11210544" cy="29260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50" b="0" i="0" u="none" strike="noStrike">
                <a:solidFill>
                  <a:srgbClr val="8C8C8C"/>
                </a:solidFill>
                <a:latin typeface="微软雅黑"/>
                <a:ea typeface="微软雅黑"/>
                <a:cs typeface="微软雅黑"/>
                <a:sym typeface="微软雅黑"/>
              </a:rPr>
              <a:t>未使用外部开放数据集，全部为自建题库/知识库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822960" y="1920240"/>
            <a:ext cx="82296" cy="310896"/>
          </a:xfrm>
          <a:prstGeom prst="rect">
            <a:avLst/>
          </a:prstGeom>
          <a:solidFill>
            <a:srgbClr val="00B0F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005840" y="1874520"/>
            <a:ext cx="7315200" cy="40233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200" b="1" i="0" u="none" strike="noStrike">
                <a:solidFill>
                  <a:srgbClr val="0C2744"/>
                </a:solidFill>
                <a:latin typeface="微软雅黑"/>
                <a:ea typeface="微软雅黑"/>
                <a:cs typeface="微软雅黑"/>
                <a:sym typeface="微软雅黑"/>
              </a:rPr>
              <a:t>核心算法实现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05256" y="2532888"/>
            <a:ext cx="201168" cy="201168"/>
          </a:xfrm>
          <a:prstGeom prst="ellipse">
            <a:avLst/>
          </a:prstGeom>
          <a:solidFill>
            <a:srgbClr val="00B0F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1207008" y="2377440"/>
            <a:ext cx="5669280" cy="6400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16666"/>
              </a:lnSpc>
              <a:defRPr/>
            </a:pPr>
            <a:r>
              <a:rPr lang="en-US" sz="1100" b="0" i="0" u="none" strike="noStrike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智能匹配：2-gram(45%)+数学关键词加权(30%)+字符级 Jaccard(15%)+子串包含加成(最高+15%)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05256" y="3246120"/>
            <a:ext cx="201168" cy="201168"/>
          </a:xfrm>
          <a:prstGeom prst="ellipse">
            <a:avLst/>
          </a:prstGeom>
          <a:solidFill>
            <a:srgbClr val="00B0F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1207008" y="3090672"/>
            <a:ext cx="5669280" cy="6400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16666"/>
              </a:lnSpc>
              <a:defRPr/>
            </a:pPr>
            <a:r>
              <a:rPr lang="en-US" sz="1100" b="0" i="0" u="none" strike="noStrike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题库双阈值：命中知识点 0.55 / 常规 0.70，数字序列与函数记号一致性校验（不一致降权 50%）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905256" y="3959352"/>
            <a:ext cx="201168" cy="201168"/>
          </a:xfrm>
          <a:prstGeom prst="ellipse">
            <a:avLst/>
          </a:prstGeom>
          <a:solidFill>
            <a:srgbClr val="00B0F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1207008" y="3803904"/>
            <a:ext cx="5669280" cy="6400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16666"/>
              </a:lnSpc>
              <a:defRPr/>
            </a:pPr>
            <a:r>
              <a:rPr lang="en-US" sz="1100" b="0" i="0" u="none" strike="noStrike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知识库匹配阈值 0.35，未达阈值启用包含匹配兜底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905256" y="4672584"/>
            <a:ext cx="201168" cy="201168"/>
          </a:xfrm>
          <a:prstGeom prst="ellipse">
            <a:avLst/>
          </a:prstGeom>
          <a:solidFill>
            <a:srgbClr val="00B0F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1207008" y="4517136"/>
            <a:ext cx="5669280" cy="6400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16666"/>
              </a:lnSpc>
              <a:defRPr/>
            </a:pPr>
            <a:r>
              <a:rPr lang="en-US" sz="1100" b="0" i="0" u="none" strike="noStrike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内置自检评测：匹配 24 条正负例、判题 24 条用例，控制台输出召回率/拒识率/准确率报告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858000" y="1920240"/>
            <a:ext cx="82296" cy="310896"/>
          </a:xfrm>
          <a:prstGeom prst="rect">
            <a:avLst/>
          </a:prstGeom>
          <a:solidFill>
            <a:srgbClr val="00B0F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7040880" y="1874520"/>
            <a:ext cx="5771693" cy="40233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200" b="1" i="0" u="none" strike="noStrike">
                <a:solidFill>
                  <a:srgbClr val="0C2744"/>
                </a:solidFill>
                <a:latin typeface="微软雅黑"/>
                <a:ea typeface="微软雅黑"/>
                <a:cs typeface="微软雅黑"/>
                <a:sym typeface="微软雅黑"/>
              </a:rPr>
              <a:t>数据使用清单</a:t>
            </a:r>
            <a:endParaRPr lang="en-US" sz="1100"/>
          </a:p>
        </p:txBody>
      </p:sp>
      <p:graphicFrame>
        <p:nvGraphicFramePr>
          <p:cNvPr id="18" name="Table 18"/>
          <p:cNvGraphicFramePr>
            <a:graphicFrameLocks noGrp="1"/>
          </p:cNvGraphicFramePr>
          <p:nvPr/>
        </p:nvGraphicFramePr>
        <p:xfrm>
          <a:off x="6858000" y="2377440"/>
          <a:ext cx="5175504" cy="192024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150" b="1" i="0" u="none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数据类型</a:t>
                      </a:r>
                      <a:endParaRPr lang="en-US" sz="1100"/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74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150" b="1" i="0" u="none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规模</a:t>
                      </a:r>
                      <a:endParaRPr lang="en-US" sz="1100"/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74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150" b="1" i="0" u="none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核心支撑作用</a:t>
                      </a:r>
                      <a:endParaRPr lang="en-US" sz="1100"/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744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内置精选题库</a:t>
                      </a:r>
                      <a:endParaRPr lang="en-US" sz="1100"/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95 题</a:t>
                      </a:r>
                      <a:endParaRPr lang="en-US" sz="1100"/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作业批改智能匹配</a:t>
                      </a:r>
                      <a:endParaRPr lang="en-US" sz="1100"/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课程知识体系</a:t>
                      </a:r>
                      <a:endParaRPr lang="en-US" sz="1100"/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13 主题 28 节点</a:t>
                      </a:r>
                      <a:endParaRPr lang="en-US" sz="1100"/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学习路径与知识点关联</a:t>
                      </a:r>
                      <a:endParaRPr lang="en-US" sz="1100"/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学科知识库</a:t>
                      </a:r>
                      <a:endParaRPr lang="en-US" sz="1100"/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124 词条</a:t>
                      </a:r>
                      <a:endParaRPr lang="en-US" sz="1100"/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本地模式答疑</a:t>
                      </a:r>
                      <a:endParaRPr lang="en-US" sz="1100"/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用户行为数据</a:t>
                      </a:r>
                      <a:endParaRPr lang="en-US" sz="1100"/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本地</a:t>
                      </a:r>
                      <a:endParaRPr lang="en-US" sz="1100"/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localStorage 存储</a:t>
                      </a:r>
                      <a:endParaRPr lang="en-US" sz="1100"/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AutoShape 19"/>
          <p:cNvSpPr/>
          <p:nvPr/>
        </p:nvSpPr>
        <p:spPr>
          <a:xfrm>
            <a:off x="6858000" y="4318000"/>
            <a:ext cx="5175504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50800" tIns="25400" rIns="50800" bIns="2540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646464"/>
                </a:solidFill>
                <a:latin typeface="微软雅黑"/>
                <a:ea typeface="微软雅黑"/>
                <a:cs typeface="微软雅黑"/>
                <a:sym typeface="微软雅黑"/>
              </a:rPr>
              <a:t>关键字段：题库（题目/答案/解析/难度/知识点/学科）｜知识体系（主题/节点/前置依赖）｜知识库（概念/公式/要点/例题）｜行为数据（答疑记录/批改历史/进度/配置）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858000" y="4709160"/>
            <a:ext cx="5175504" cy="1417320"/>
          </a:xfrm>
          <a:prstGeom prst="roundRect">
            <a:avLst>
              <a:gd name="adj" fmla="val 3870"/>
            </a:avLst>
          </a:prstGeom>
          <a:solidFill>
            <a:srgbClr val="0C2744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7040880" y="4800600"/>
            <a:ext cx="4809744" cy="12344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16666"/>
              </a:lnSpc>
              <a:defRPr/>
            </a:pPr>
            <a:r>
              <a:rPr lang="en-US" sz="1250" b="1" i="0" u="none" strike="noStrike">
                <a:solidFill>
                  <a:srgbClr val="00B0F0"/>
                </a:solidFill>
                <a:latin typeface="微软雅黑"/>
                <a:ea typeface="微软雅黑"/>
                <a:cs typeface="微软雅黑"/>
                <a:sym typeface="微软雅黑"/>
              </a:rPr>
              <a:t>数据隐私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学习数据只存本地浏览器；仅在 AI 模式下，当前提问会发送给所选模型服务商用于生成回答。OCR 图片在浏览器本地处理、不上传——这是纯前端架构的真实优势。</a:t>
            </a:r>
          </a:p>
        </p:txBody>
      </p:sp>
    </p:spTree>
  </p:cSld>
  <p:clrMapOvr>
    <a:masterClrMapping/>
  </p:clrMapOvr>
  <p:transition spd="slow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22960" y="219456"/>
            <a:ext cx="6858000" cy="5029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000" b="0" i="0" u="none" strike="noStrike">
                <a:solidFill>
                  <a:srgbClr val="A6A6A6"/>
                </a:solidFill>
                <a:latin typeface="微软雅黑"/>
                <a:ea typeface="微软雅黑"/>
                <a:cs typeface="微软雅黑"/>
                <a:sym typeface="微软雅黑"/>
              </a:rPr>
              <a:t>05 作品价值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822960" y="731520"/>
            <a:ext cx="6858000" cy="2560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00" b="0" i="0" u="none" strike="noStrike" spc="200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ZHIXUEBAN · AI LEARNING COMPANION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822960" y="1024128"/>
            <a:ext cx="11210544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300" b="1" i="0" u="none" strike="noStrike">
                <a:solidFill>
                  <a:srgbClr val="0C2744"/>
                </a:solidFill>
                <a:latin typeface="微软雅黑"/>
                <a:ea typeface="微软雅黑"/>
                <a:cs typeface="微软雅黑"/>
                <a:sym typeface="微软雅黑"/>
              </a:rPr>
              <a:t>社会价值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822960" y="1481328"/>
            <a:ext cx="11210544" cy="29260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50" b="0" i="0" u="none" strike="noStrike">
                <a:solidFill>
                  <a:srgbClr val="8C8C8C"/>
                </a:solidFill>
                <a:latin typeface="微软雅黑"/>
                <a:ea typeface="微软雅黑"/>
                <a:cs typeface="微软雅黑"/>
                <a:sym typeface="微软雅黑"/>
              </a:rPr>
              <a:t>不止于理念，落到具体场景与数字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822960" y="2057400"/>
            <a:ext cx="621792" cy="621792"/>
          </a:xfrm>
          <a:prstGeom prst="roundRect">
            <a:avLst>
              <a:gd name="adj" fmla="val 11765"/>
            </a:avLst>
          </a:prstGeom>
          <a:solidFill>
            <a:srgbClr val="0C2744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822960" y="2057400"/>
            <a:ext cx="621792" cy="62179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572768" y="2020824"/>
            <a:ext cx="2926080" cy="3474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50" b="1" i="0" u="none" strike="noStrike">
                <a:solidFill>
                  <a:srgbClr val="0C2744"/>
                </a:solidFill>
                <a:latin typeface="微软雅黑"/>
                <a:ea typeface="微软雅黑"/>
                <a:cs typeface="微软雅黑"/>
                <a:sym typeface="微软雅黑"/>
              </a:rPr>
              <a:t>促进教育公平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572768" y="2386584"/>
            <a:ext cx="2926080" cy="12801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16666"/>
              </a:lnSpc>
              <a:defRPr/>
            </a:pPr>
            <a:r>
              <a:rPr lang="en-US" sz="1100" b="0" i="0" u="none" strike="noStrike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面向近 4900 万高等教育在学者，让课后答疑与批改不再受师资与地域限制，降低优质资源获取门槛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617720" y="2057400"/>
            <a:ext cx="621792" cy="621792"/>
          </a:xfrm>
          <a:prstGeom prst="roundRect">
            <a:avLst>
              <a:gd name="adj" fmla="val 11765"/>
            </a:avLst>
          </a:prstGeom>
          <a:solidFill>
            <a:srgbClr val="7F7F7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4617720" y="2057400"/>
            <a:ext cx="621792" cy="62179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367528" y="2020824"/>
            <a:ext cx="2926080" cy="3474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50" b="1" i="0" u="none" strike="noStrike">
                <a:solidFill>
                  <a:srgbClr val="0C2744"/>
                </a:solidFill>
                <a:latin typeface="微软雅黑"/>
                <a:ea typeface="微软雅黑"/>
                <a:cs typeface="微软雅黑"/>
                <a:sym typeface="微软雅黑"/>
              </a:rPr>
              <a:t>减轻教师负担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367528" y="2386584"/>
            <a:ext cx="2926080" cy="12801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16666"/>
              </a:lnSpc>
              <a:defRPr/>
            </a:pPr>
            <a:r>
              <a:rPr lang="en-US" sz="1100" b="0" i="0" u="none" strike="noStrike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智能批改自动完成作业批改与错题归因，学生即时了解错误原因，助教从重复批改中解放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412480" y="2057400"/>
            <a:ext cx="621792" cy="621792"/>
          </a:xfrm>
          <a:prstGeom prst="roundRect">
            <a:avLst>
              <a:gd name="adj" fmla="val 11765"/>
            </a:avLst>
          </a:prstGeom>
          <a:solidFill>
            <a:srgbClr val="0C2744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8412480" y="2057400"/>
            <a:ext cx="621792" cy="62179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9162288" y="2020824"/>
            <a:ext cx="2926080" cy="3474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50" b="1" i="0" u="none" strike="noStrike">
                <a:solidFill>
                  <a:srgbClr val="0C2744"/>
                </a:solidFill>
                <a:latin typeface="微软雅黑"/>
                <a:ea typeface="微软雅黑"/>
                <a:cs typeface="微软雅黑"/>
                <a:sym typeface="微软雅黑"/>
              </a:rPr>
              <a:t>培养思维能力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9162288" y="2386584"/>
            <a:ext cx="2926080" cy="12801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16666"/>
              </a:lnSpc>
              <a:defRPr/>
            </a:pPr>
            <a:r>
              <a:rPr lang="en-US" sz="1100" b="0" i="0" u="none" strike="noStrike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苏格拉底四步引导法注重逻辑思维与独立思考，对抗「搜题即抄答案」的依赖式学习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22960" y="3931920"/>
            <a:ext cx="621792" cy="621792"/>
          </a:xfrm>
          <a:prstGeom prst="roundRect">
            <a:avLst>
              <a:gd name="adj" fmla="val 11765"/>
            </a:avLst>
          </a:prstGeom>
          <a:solidFill>
            <a:srgbClr val="7F7F7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822960" y="3931920"/>
            <a:ext cx="621792" cy="62179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1572768" y="3895344"/>
            <a:ext cx="2926080" cy="3474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50" b="1" i="0" u="none" strike="noStrike">
                <a:solidFill>
                  <a:srgbClr val="0C2744"/>
                </a:solidFill>
                <a:latin typeface="微软雅黑"/>
                <a:ea typeface="微软雅黑"/>
                <a:cs typeface="微软雅黑"/>
                <a:sym typeface="微软雅黑"/>
              </a:rPr>
              <a:t>激发学习内驱力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1572768" y="4261104"/>
            <a:ext cx="2926080" cy="12801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16666"/>
              </a:lnSpc>
              <a:defRPr/>
            </a:pPr>
            <a:r>
              <a:rPr lang="en-US" sz="1100" b="0" i="0" u="none" strike="noStrike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情感 Agent 与虚拟形象提供有温度的陪伴，缓解基础课程学业焦虑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4617720" y="3931920"/>
            <a:ext cx="621792" cy="621792"/>
          </a:xfrm>
          <a:prstGeom prst="roundRect">
            <a:avLst>
              <a:gd name="adj" fmla="val 11765"/>
            </a:avLst>
          </a:prstGeom>
          <a:solidFill>
            <a:srgbClr val="0C2744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4617720" y="3931920"/>
            <a:ext cx="621792" cy="62179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5367528" y="3895344"/>
            <a:ext cx="2926080" cy="3474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50" b="1" i="0" u="none" strike="noStrike">
                <a:solidFill>
                  <a:srgbClr val="0C2744"/>
                </a:solidFill>
                <a:latin typeface="微软雅黑"/>
                <a:ea typeface="微软雅黑"/>
                <a:cs typeface="微软雅黑"/>
                <a:sym typeface="微软雅黑"/>
              </a:rPr>
              <a:t>保护学生隐私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5367528" y="4261104"/>
            <a:ext cx="2926080" cy="12801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16666"/>
              </a:lnSpc>
              <a:defRPr/>
            </a:pPr>
            <a:r>
              <a:rPr lang="en-US" sz="1100" b="0" i="0" u="none" strike="noStrike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学习数据仅存本地浏览器，OCR 图片本地处理不上传，从架构上降低数据泄露风险</a:t>
            </a:r>
            <a:endParaRPr lang="en-US" sz="1100"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3"/>
          <a:srcRect t="1939" b="1938"/>
          <a:stretch>
            <a:fillRect/>
          </a:stretch>
        </p:blipFill>
        <p:spPr>
          <a:xfrm>
            <a:off x="8366760" y="3931920"/>
            <a:ext cx="3657600" cy="22860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spd="slow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22960" y="219456"/>
            <a:ext cx="6858000" cy="5029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000" b="0" i="0" u="none" strike="noStrike">
                <a:solidFill>
                  <a:srgbClr val="A6A6A6"/>
                </a:solidFill>
                <a:latin typeface="微软雅黑"/>
                <a:ea typeface="微软雅黑"/>
                <a:cs typeface="微软雅黑"/>
                <a:sym typeface="微软雅黑"/>
              </a:rPr>
              <a:t>05 作品价值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822960" y="731520"/>
            <a:ext cx="6858000" cy="2560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00" b="0" i="0" u="none" strike="noStrike" spc="200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ZHIXUEBAN · AI LEARNING COMPANION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822960" y="1024128"/>
            <a:ext cx="11210544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300" b="1" i="0" u="none" strike="noStrike">
                <a:solidFill>
                  <a:srgbClr val="0C2744"/>
                </a:solidFill>
                <a:latin typeface="微软雅黑"/>
                <a:ea typeface="微软雅黑"/>
                <a:cs typeface="微软雅黑"/>
                <a:sym typeface="微软雅黑"/>
              </a:rPr>
              <a:t>经济价值与单位成本模型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822960" y="1481328"/>
            <a:ext cx="11210544" cy="29260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50" b="0" i="0" u="none" strike="noStrike">
                <a:solidFill>
                  <a:srgbClr val="8C8C8C"/>
                </a:solidFill>
                <a:latin typeface="微软雅黑"/>
                <a:ea typeface="微软雅黑"/>
                <a:cs typeface="微软雅黑"/>
                <a:sym typeface="微软雅黑"/>
              </a:rPr>
              <a:t>所有数字标注假设与口径，不做未验证的收入预测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822960" y="1920240"/>
            <a:ext cx="82296" cy="310896"/>
          </a:xfrm>
          <a:prstGeom prst="rect">
            <a:avLst/>
          </a:prstGeom>
          <a:solidFill>
            <a:srgbClr val="00B0F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005840" y="1874520"/>
            <a:ext cx="7315200" cy="40233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200" b="1" i="0" u="none" strike="noStrike">
                <a:solidFill>
                  <a:srgbClr val="0C2744"/>
                </a:solidFill>
                <a:latin typeface="微软雅黑"/>
                <a:ea typeface="微软雅黑"/>
                <a:cs typeface="微软雅黑"/>
                <a:sym typeface="微软雅黑"/>
              </a:rPr>
              <a:t>单位经济模型（API 模式·五角色并行协作）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05256" y="2532888"/>
            <a:ext cx="201168" cy="201168"/>
          </a:xfrm>
          <a:prstGeom prst="ellipse">
            <a:avLst/>
          </a:prstGeom>
          <a:solidFill>
            <a:srgbClr val="0C2744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1207008" y="2377440"/>
            <a:ext cx="5577840" cy="5029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输入 token：约 800 token/次 × 5 次调用 = 4000 token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05256" y="3081528"/>
            <a:ext cx="201168" cy="201168"/>
          </a:xfrm>
          <a:prstGeom prst="ellipse">
            <a:avLst/>
          </a:prstGeom>
          <a:solidFill>
            <a:srgbClr val="0C2744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1207008" y="2926080"/>
            <a:ext cx="5577840" cy="5029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输出 token：约 600 token/次 × 5 次调用 = 3000 token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905256" y="3630168"/>
            <a:ext cx="201168" cy="201168"/>
          </a:xfrm>
          <a:prstGeom prst="ellipse">
            <a:avLst/>
          </a:prstGeom>
          <a:solidFill>
            <a:srgbClr val="0C2744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1207008" y="3474720"/>
            <a:ext cx="5577840" cy="5029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单次答疑成本约 0.03–0.08 元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905256" y="4178808"/>
            <a:ext cx="201168" cy="201168"/>
          </a:xfrm>
          <a:prstGeom prst="ellipse">
            <a:avLst/>
          </a:prstGeom>
          <a:solidFill>
            <a:srgbClr val="0C2744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1207008" y="4023360"/>
            <a:ext cx="5577840" cy="5029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按「1 学生 × 每天 3 题 × 30 天」估算：每用户每月 API 成本约 2.7–7.2 元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22960" y="4617720"/>
            <a:ext cx="5943600" cy="1371600"/>
          </a:xfrm>
          <a:prstGeom prst="roundRect">
            <a:avLst>
              <a:gd name="adj" fmla="val 4000"/>
            </a:avLst>
          </a:prstGeom>
          <a:solidFill>
            <a:srgbClr val="FFF6E0">
              <a:alpha val="100000"/>
            </a:srgbClr>
          </a:solidFill>
          <a:ln w="12700">
            <a:solidFill>
              <a:srgbClr val="FFC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987552" y="4617720"/>
            <a:ext cx="5614416" cy="1371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 defTabSz="914400">
              <a:lnSpc>
                <a:spcPct val="116666"/>
              </a:lnSpc>
              <a:defRPr/>
            </a:pPr>
            <a:r>
              <a:rPr lang="en-US" sz="1100" b="1" i="0" u="none" strike="noStrike">
                <a:solidFill>
                  <a:srgbClr val="B8860B"/>
                </a:solidFill>
                <a:latin typeface="微软雅黑"/>
                <a:ea typeface="微软雅黑"/>
                <a:cs typeface="微软雅黑"/>
                <a:sym typeface="微软雅黑"/>
              </a:rPr>
              <a:t>声明 </a:t>
            </a:r>
            <a:r>
              <a:rPr lang="en-US" sz="1100" b="0" i="0" u="none" strike="noStrike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定价依据与假设：按当前主流大模型 API 定价、五角色并行协作、各调用一次估算，token 量为预估值；0.03–0.08 元属保守上限估算，实际随所选模型单价浮动，低价模型下可能更低。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858000" y="1920240"/>
            <a:ext cx="82296" cy="310896"/>
          </a:xfrm>
          <a:prstGeom prst="rect">
            <a:avLst/>
          </a:prstGeom>
          <a:solidFill>
            <a:srgbClr val="00B0F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7040880" y="1874520"/>
            <a:ext cx="5771693" cy="40233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200" b="1" i="0" u="none" strike="noStrike">
                <a:solidFill>
                  <a:srgbClr val="0C2744"/>
                </a:solidFill>
                <a:latin typeface="微软雅黑"/>
                <a:ea typeface="微软雅黑"/>
                <a:cs typeface="微软雅黑"/>
                <a:sym typeface="微软雅黑"/>
              </a:rPr>
              <a:t>商业模式探索（概念阶段·未经验证）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858000" y="242316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7F7F7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6858000" y="2423160"/>
            <a:ext cx="548640" cy="5486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543800" y="2386584"/>
            <a:ext cx="2011680" cy="31089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0C2744"/>
                </a:solidFill>
                <a:latin typeface="微软雅黑"/>
                <a:ea typeface="微软雅黑"/>
                <a:cs typeface="微软雅黑"/>
                <a:sym typeface="微软雅黑"/>
              </a:rPr>
              <a:t>C 端订阅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543800" y="2697480"/>
            <a:ext cx="4480560" cy="3657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基础功能免费，高级功能付费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858000" y="320040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7F7F7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6858000" y="3200400"/>
            <a:ext cx="548640" cy="5486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7543800" y="3163824"/>
            <a:ext cx="2011680" cy="31089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0C2744"/>
                </a:solidFill>
                <a:latin typeface="微软雅黑"/>
                <a:ea typeface="微软雅黑"/>
                <a:cs typeface="微软雅黑"/>
                <a:sym typeface="微软雅黑"/>
              </a:rPr>
              <a:t>B 端合作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7543800" y="3474720"/>
            <a:ext cx="4480560" cy="3657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学校与教育机构智慧校园方案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858000" y="397764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7F7F7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9" name="AutoShape 29"/>
          <p:cNvSpPr/>
          <p:nvPr/>
        </p:nvSpPr>
        <p:spPr>
          <a:xfrm>
            <a:off x="6858000" y="3977640"/>
            <a:ext cx="548640" cy="5486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7543800" y="3941064"/>
            <a:ext cx="2011680" cy="31089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0C2744"/>
                </a:solidFill>
                <a:latin typeface="微软雅黑"/>
                <a:ea typeface="微软雅黑"/>
                <a:cs typeface="微软雅黑"/>
                <a:sym typeface="微软雅黑"/>
              </a:rPr>
              <a:t>内容增值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7543800" y="4251960"/>
            <a:ext cx="4480560" cy="3657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精品课程、题库拓展等增值服务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6858000" y="4892040"/>
            <a:ext cx="82296" cy="310896"/>
          </a:xfrm>
          <a:prstGeom prst="rect">
            <a:avLst/>
          </a:prstGeom>
          <a:solidFill>
            <a:srgbClr val="00B0F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33" name="AutoShape 33"/>
          <p:cNvSpPr/>
          <p:nvPr/>
        </p:nvSpPr>
        <p:spPr>
          <a:xfrm>
            <a:off x="7040880" y="4846320"/>
            <a:ext cx="5771693" cy="40233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200" b="1" i="0" u="none" strike="noStrike">
                <a:solidFill>
                  <a:srgbClr val="0C2744"/>
                </a:solidFill>
                <a:latin typeface="微软雅黑"/>
                <a:ea typeface="微软雅黑"/>
                <a:cs typeface="微软雅黑"/>
                <a:sym typeface="微软雅黑"/>
              </a:rPr>
              <a:t>成本优化路径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6858000" y="5349240"/>
            <a:ext cx="2523744" cy="420624"/>
          </a:xfrm>
          <a:prstGeom prst="roundRect">
            <a:avLst>
              <a:gd name="adj" fmla="val 13042"/>
            </a:avLst>
          </a:prstGeom>
          <a:solidFill>
            <a:srgbClr val="E8E8E8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35" name="AutoShape 35"/>
          <p:cNvSpPr/>
          <p:nvPr/>
        </p:nvSpPr>
        <p:spPr>
          <a:xfrm>
            <a:off x="6858000" y="5349240"/>
            <a:ext cx="2523744" cy="42062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050" b="0" i="0" u="none" strike="noStrike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① 已实现核验∥诊断、规划∥情感并行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9509760" y="5349240"/>
            <a:ext cx="2523744" cy="420624"/>
          </a:xfrm>
          <a:prstGeom prst="roundRect">
            <a:avLst>
              <a:gd name="adj" fmla="val 13042"/>
            </a:avLst>
          </a:prstGeom>
          <a:solidFill>
            <a:srgbClr val="E8E8E8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37" name="AutoShape 37"/>
          <p:cNvSpPr/>
          <p:nvPr/>
        </p:nvSpPr>
        <p:spPr>
          <a:xfrm>
            <a:off x="9509760" y="5349240"/>
            <a:ext cx="2523744" cy="42062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050" b="0" i="0" u="none" strike="noStrike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② 诊断与规划合并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6858000" y="5852160"/>
            <a:ext cx="2523744" cy="420624"/>
          </a:xfrm>
          <a:prstGeom prst="roundRect">
            <a:avLst>
              <a:gd name="adj" fmla="val 13042"/>
            </a:avLst>
          </a:prstGeom>
          <a:solidFill>
            <a:srgbClr val="E8E8E8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39" name="AutoShape 39"/>
          <p:cNvSpPr/>
          <p:nvPr/>
        </p:nvSpPr>
        <p:spPr>
          <a:xfrm>
            <a:off x="6858000" y="5852160"/>
            <a:ext cx="2523744" cy="42062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050" b="0" i="0" u="none" strike="noStrike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③ 本地知识库分流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9509760" y="5852160"/>
            <a:ext cx="2523744" cy="420624"/>
          </a:xfrm>
          <a:prstGeom prst="roundRect">
            <a:avLst>
              <a:gd name="adj" fmla="val 13042"/>
            </a:avLst>
          </a:prstGeom>
          <a:solidFill>
            <a:srgbClr val="E8E8E8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41" name="AutoShape 41"/>
          <p:cNvSpPr/>
          <p:nvPr/>
        </p:nvSpPr>
        <p:spPr>
          <a:xfrm>
            <a:off x="9509760" y="5852160"/>
            <a:ext cx="2523744" cy="42062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050" b="0" i="0" u="none" strike="noStrike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④ 小模型处理常规答疑</a:t>
            </a:r>
            <a:endParaRPr lang="en-US" sz="1100"/>
          </a:p>
        </p:txBody>
      </p:sp>
    </p:spTree>
  </p:cSld>
  <p:clrMapOvr>
    <a:masterClrMapping/>
  </p:clrMapOvr>
  <p:transition spd="slow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22960" y="219456"/>
            <a:ext cx="6858000" cy="5029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000" b="0" i="0" u="none" strike="noStrike">
                <a:solidFill>
                  <a:srgbClr val="A6A6A6"/>
                </a:solidFill>
                <a:latin typeface="微软雅黑"/>
                <a:ea typeface="微软雅黑"/>
                <a:cs typeface="微软雅黑"/>
                <a:sym typeface="微软雅黑"/>
              </a:rPr>
              <a:t>05 作品价值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822960" y="731520"/>
            <a:ext cx="6858000" cy="2560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00" b="0" i="0" u="none" strike="noStrike" spc="200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ZHIXUEBAN · AI LEARNING COMPANION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822960" y="1024128"/>
            <a:ext cx="11210544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300" b="1" i="0" u="none" strike="noStrike">
                <a:solidFill>
                  <a:srgbClr val="0C2744"/>
                </a:solidFill>
                <a:latin typeface="微软雅黑"/>
                <a:ea typeface="微软雅黑"/>
                <a:cs typeface="微软雅黑"/>
                <a:sym typeface="微软雅黑"/>
              </a:rPr>
              <a:t>已知局限与下一步规划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822960" y="1481328"/>
            <a:ext cx="11210544" cy="29260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50" b="0" i="0" u="none" strike="noStrike">
                <a:solidFill>
                  <a:srgbClr val="8C8C8C"/>
                </a:solidFill>
                <a:latin typeface="微软雅黑"/>
                <a:ea typeface="微软雅黑"/>
                <a:cs typeface="微软雅黑"/>
                <a:sym typeface="微软雅黑"/>
              </a:rPr>
              <a:t>每条局限都配现有工程对策与演进方向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822960" y="1965960"/>
            <a:ext cx="3611880" cy="457200"/>
          </a:xfrm>
          <a:prstGeom prst="roundRect">
            <a:avLst>
              <a:gd name="adj" fmla="val 12000"/>
            </a:avLst>
          </a:prstGeom>
          <a:solidFill>
            <a:srgbClr val="0C2744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822960" y="1965960"/>
            <a:ext cx="3611880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已知局限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617720" y="1965960"/>
            <a:ext cx="3611880" cy="457200"/>
          </a:xfrm>
          <a:prstGeom prst="roundRect">
            <a:avLst>
              <a:gd name="adj" fmla="val 12000"/>
            </a:avLst>
          </a:prstGeom>
          <a:solidFill>
            <a:srgbClr val="0C2744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4617720" y="1965960"/>
            <a:ext cx="3611880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现有工程对策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412480" y="1965960"/>
            <a:ext cx="3611880" cy="457200"/>
          </a:xfrm>
          <a:prstGeom prst="roundRect">
            <a:avLst>
              <a:gd name="adj" fmla="val 12000"/>
            </a:avLst>
          </a:prstGeom>
          <a:solidFill>
            <a:srgbClr val="0C2744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8412480" y="1965960"/>
            <a:ext cx="3611880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下一步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22960" y="2542032"/>
            <a:ext cx="3611880" cy="658368"/>
          </a:xfrm>
          <a:prstGeom prst="roundRect">
            <a:avLst>
              <a:gd name="adj" fmla="val 6943"/>
            </a:avLst>
          </a:prstGeom>
          <a:solidFill>
            <a:srgbClr val="E8E8E8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1014984" y="2862072"/>
            <a:ext cx="201168" cy="201168"/>
          </a:xfrm>
          <a:prstGeom prst="ellipse">
            <a:avLst/>
          </a:prstGeom>
          <a:solidFill>
            <a:srgbClr val="FFC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1243584" y="2542032"/>
            <a:ext cx="3063240" cy="65836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8333"/>
              </a:lnSpc>
              <a:defRPr/>
            </a:pPr>
            <a:r>
              <a:rPr lang="en-US" sz="1050" b="0" i="0" u="none" strike="noStrike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OCR 对手写体与复杂公式识别有限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617720" y="2542032"/>
            <a:ext cx="3611880" cy="658368"/>
          </a:xfrm>
          <a:prstGeom prst="roundRect">
            <a:avLst>
              <a:gd name="adj" fmla="val 6943"/>
            </a:avLst>
          </a:prstGeom>
          <a:solidFill>
            <a:srgbClr val="E8E8E8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4764024" y="2542032"/>
            <a:ext cx="3319272" cy="65836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8333"/>
              </a:lnSpc>
              <a:defRPr/>
            </a:pPr>
            <a:r>
              <a:rPr lang="en-US" sz="1050" b="0" i="0" u="none" strike="noStrike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结果可编辑修正 + 手动录入回退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412480" y="2542032"/>
            <a:ext cx="3611880" cy="658368"/>
          </a:xfrm>
          <a:prstGeom prst="roundRect">
            <a:avLst>
              <a:gd name="adj" fmla="val 6943"/>
            </a:avLst>
          </a:prstGeom>
          <a:solidFill>
            <a:srgbClr val="E8E8E8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8558784" y="2542032"/>
            <a:ext cx="3319272" cy="65836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8333"/>
              </a:lnSpc>
              <a:defRPr/>
            </a:pPr>
            <a:r>
              <a:rPr lang="en-US" sz="1050" b="1" i="0" u="none" strike="noStrike">
                <a:solidFill>
                  <a:srgbClr val="0C2744"/>
                </a:solidFill>
                <a:latin typeface="微软雅黑"/>
                <a:ea typeface="微软雅黑"/>
                <a:cs typeface="微软雅黑"/>
                <a:sym typeface="微软雅黑"/>
              </a:rPr>
              <a:t>集成专门公式识别引擎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22960" y="3291840"/>
            <a:ext cx="3611880" cy="658368"/>
          </a:xfrm>
          <a:prstGeom prst="roundRect">
            <a:avLst>
              <a:gd name="adj" fmla="val 6943"/>
            </a:avLst>
          </a:prstGeom>
          <a:solidFill>
            <a:srgbClr val="F2F6FA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1014984" y="3611880"/>
            <a:ext cx="201168" cy="201168"/>
          </a:xfrm>
          <a:prstGeom prst="ellipse">
            <a:avLst/>
          </a:prstGeom>
          <a:solidFill>
            <a:srgbClr val="FFC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1243584" y="3291840"/>
            <a:ext cx="3063240" cy="65836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8333"/>
              </a:lnSpc>
              <a:defRPr/>
            </a:pPr>
            <a:r>
              <a:rPr lang="en-US" sz="1050" b="0" i="0" u="none" strike="noStrike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核验为辅助复核，存在幻觉风险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4617720" y="3291840"/>
            <a:ext cx="3611880" cy="658368"/>
          </a:xfrm>
          <a:prstGeom prst="roundRect">
            <a:avLst>
              <a:gd name="adj" fmla="val 6943"/>
            </a:avLst>
          </a:prstGeom>
          <a:solidFill>
            <a:srgbClr val="F2F6FA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4764024" y="3291840"/>
            <a:ext cx="3319272" cy="65836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8333"/>
              </a:lnSpc>
              <a:defRPr/>
            </a:pPr>
            <a:r>
              <a:rPr lang="en-US" sz="1050" b="0" i="0" u="none" strike="noStrike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来源标注 + 复核提示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412480" y="3291840"/>
            <a:ext cx="3611880" cy="658368"/>
          </a:xfrm>
          <a:prstGeom prst="roundRect">
            <a:avLst>
              <a:gd name="adj" fmla="val 6943"/>
            </a:avLst>
          </a:prstGeom>
          <a:solidFill>
            <a:srgbClr val="F2F6FA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8558784" y="3291840"/>
            <a:ext cx="3319272" cy="65836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8333"/>
              </a:lnSpc>
              <a:defRPr/>
            </a:pPr>
            <a:r>
              <a:rPr lang="en-US" sz="1050" b="1" i="0" u="none" strike="noStrike">
                <a:solidFill>
                  <a:srgbClr val="0C2744"/>
                </a:solidFill>
                <a:latin typeface="微软雅黑"/>
                <a:ea typeface="微软雅黑"/>
                <a:cs typeface="微软雅黑"/>
                <a:sym typeface="微软雅黑"/>
              </a:rPr>
              <a:t>RAG 检索增强后生成并给出处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22960" y="4041648"/>
            <a:ext cx="3611880" cy="658368"/>
          </a:xfrm>
          <a:prstGeom prst="roundRect">
            <a:avLst>
              <a:gd name="adj" fmla="val 6943"/>
            </a:avLst>
          </a:prstGeom>
          <a:solidFill>
            <a:srgbClr val="E8E8E8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1014984" y="4361688"/>
            <a:ext cx="201168" cy="201168"/>
          </a:xfrm>
          <a:prstGeom prst="ellipse">
            <a:avLst/>
          </a:prstGeom>
          <a:solidFill>
            <a:srgbClr val="FFC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8" name="AutoShape 28"/>
          <p:cNvSpPr/>
          <p:nvPr/>
        </p:nvSpPr>
        <p:spPr>
          <a:xfrm>
            <a:off x="1243584" y="4041648"/>
            <a:ext cx="3063240" cy="65836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8333"/>
              </a:lnSpc>
              <a:defRPr/>
            </a:pPr>
            <a:r>
              <a:rPr lang="en-US" sz="1050" b="0" i="0" u="none" strike="noStrike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学习路径为静态体系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4617720" y="4041648"/>
            <a:ext cx="3611880" cy="658368"/>
          </a:xfrm>
          <a:prstGeom prst="roundRect">
            <a:avLst>
              <a:gd name="adj" fmla="val 6943"/>
            </a:avLst>
          </a:prstGeom>
          <a:solidFill>
            <a:srgbClr val="E8E8E8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30" name="AutoShape 30"/>
          <p:cNvSpPr/>
          <p:nvPr/>
        </p:nvSpPr>
        <p:spPr>
          <a:xfrm>
            <a:off x="4764024" y="4041648"/>
            <a:ext cx="3319272" cy="65836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8333"/>
              </a:lnSpc>
              <a:defRPr/>
            </a:pPr>
            <a:r>
              <a:rPr lang="en-US" sz="1050" b="0" i="0" u="none" strike="noStrike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前置依赖锁定 + 错题驱动推荐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8412480" y="4041648"/>
            <a:ext cx="3611880" cy="658368"/>
          </a:xfrm>
          <a:prstGeom prst="roundRect">
            <a:avLst>
              <a:gd name="adj" fmla="val 6943"/>
            </a:avLst>
          </a:prstGeom>
          <a:solidFill>
            <a:srgbClr val="E8E8E8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32" name="AutoShape 32"/>
          <p:cNvSpPr/>
          <p:nvPr/>
        </p:nvSpPr>
        <p:spPr>
          <a:xfrm>
            <a:off x="8558784" y="4041648"/>
            <a:ext cx="3319272" cy="65836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8333"/>
              </a:lnSpc>
              <a:defRPr/>
            </a:pPr>
            <a:r>
              <a:rPr lang="en-US" sz="1050" b="1" i="0" u="none" strike="noStrike">
                <a:solidFill>
                  <a:srgbClr val="0C2744"/>
                </a:solidFill>
                <a:latin typeface="微软雅黑"/>
                <a:ea typeface="微软雅黑"/>
                <a:cs typeface="微软雅黑"/>
                <a:sym typeface="微软雅黑"/>
              </a:rPr>
              <a:t>掌握度建模 + 动态路径生成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822960" y="4791456"/>
            <a:ext cx="3611880" cy="658368"/>
          </a:xfrm>
          <a:prstGeom prst="roundRect">
            <a:avLst>
              <a:gd name="adj" fmla="val 6943"/>
            </a:avLst>
          </a:prstGeom>
          <a:solidFill>
            <a:srgbClr val="F2F6FA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34" name="AutoShape 34"/>
          <p:cNvSpPr/>
          <p:nvPr/>
        </p:nvSpPr>
        <p:spPr>
          <a:xfrm>
            <a:off x="1014984" y="5111496"/>
            <a:ext cx="201168" cy="201168"/>
          </a:xfrm>
          <a:prstGeom prst="ellipse">
            <a:avLst/>
          </a:prstGeom>
          <a:solidFill>
            <a:srgbClr val="FFC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35" name="AutoShape 35"/>
          <p:cNvSpPr/>
          <p:nvPr/>
        </p:nvSpPr>
        <p:spPr>
          <a:xfrm>
            <a:off x="1243584" y="4791456"/>
            <a:ext cx="3063240" cy="65836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8333"/>
              </a:lnSpc>
              <a:defRPr/>
            </a:pPr>
            <a:r>
              <a:rPr lang="en-US" sz="1050" b="0" i="0" u="none" strike="noStrike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五角色并行协作，延迟降低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4617720" y="4791456"/>
            <a:ext cx="3611880" cy="658368"/>
          </a:xfrm>
          <a:prstGeom prst="roundRect">
            <a:avLst>
              <a:gd name="adj" fmla="val 6943"/>
            </a:avLst>
          </a:prstGeom>
          <a:solidFill>
            <a:srgbClr val="F2F6FA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37" name="AutoShape 37"/>
          <p:cNvSpPr/>
          <p:nvPr/>
        </p:nvSpPr>
        <p:spPr>
          <a:xfrm>
            <a:off x="4764024" y="4791456"/>
            <a:ext cx="3319272" cy="65836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8333"/>
              </a:lnSpc>
              <a:defRPr/>
            </a:pPr>
            <a:r>
              <a:rPr lang="en-US" sz="1050" b="0" i="0" u="none" strike="noStrike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本地知识库分流简单问题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8412480" y="4791456"/>
            <a:ext cx="3611880" cy="658368"/>
          </a:xfrm>
          <a:prstGeom prst="roundRect">
            <a:avLst>
              <a:gd name="adj" fmla="val 6943"/>
            </a:avLst>
          </a:prstGeom>
          <a:solidFill>
            <a:srgbClr val="F2F6FA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39" name="AutoShape 39"/>
          <p:cNvSpPr/>
          <p:nvPr/>
        </p:nvSpPr>
        <p:spPr>
          <a:xfrm>
            <a:off x="8558784" y="4791456"/>
            <a:ext cx="3319272" cy="65836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8333"/>
              </a:lnSpc>
              <a:defRPr/>
            </a:pPr>
            <a:r>
              <a:rPr lang="en-US" sz="1050" b="1" i="0" u="none" strike="noStrike">
                <a:solidFill>
                  <a:srgbClr val="0C2744"/>
                </a:solidFill>
                <a:latin typeface="微软雅黑"/>
                <a:ea typeface="微软雅黑"/>
                <a:cs typeface="微软雅黑"/>
                <a:sym typeface="微软雅黑"/>
              </a:rPr>
              <a:t>调用合并 + 小模型分流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822960" y="5541264"/>
            <a:ext cx="3611880" cy="658368"/>
          </a:xfrm>
          <a:prstGeom prst="roundRect">
            <a:avLst>
              <a:gd name="adj" fmla="val 6943"/>
            </a:avLst>
          </a:prstGeom>
          <a:solidFill>
            <a:srgbClr val="E8E8E8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41" name="AutoShape 41"/>
          <p:cNvSpPr/>
          <p:nvPr/>
        </p:nvSpPr>
        <p:spPr>
          <a:xfrm>
            <a:off x="1014984" y="5861304"/>
            <a:ext cx="201168" cy="201168"/>
          </a:xfrm>
          <a:prstGeom prst="ellipse">
            <a:avLst/>
          </a:prstGeom>
          <a:solidFill>
            <a:srgbClr val="FFC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42" name="AutoShape 42"/>
          <p:cNvSpPr/>
          <p:nvPr/>
        </p:nvSpPr>
        <p:spPr>
          <a:xfrm>
            <a:off x="1243584" y="5541264"/>
            <a:ext cx="3063240" cy="65836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8333"/>
              </a:lnSpc>
              <a:defRPr/>
            </a:pPr>
            <a:r>
              <a:rPr lang="en-US" sz="1050" b="0" i="0" u="none" strike="noStrike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本地模式为模板应答</a:t>
            </a:r>
            <a:endParaRPr lang="en-US" sz="1100"/>
          </a:p>
        </p:txBody>
      </p:sp>
      <p:sp>
        <p:nvSpPr>
          <p:cNvPr id="43" name="AutoShape 43"/>
          <p:cNvSpPr/>
          <p:nvPr/>
        </p:nvSpPr>
        <p:spPr>
          <a:xfrm>
            <a:off x="4617720" y="5541264"/>
            <a:ext cx="3611880" cy="658368"/>
          </a:xfrm>
          <a:prstGeom prst="roundRect">
            <a:avLst>
              <a:gd name="adj" fmla="val 6943"/>
            </a:avLst>
          </a:prstGeom>
          <a:solidFill>
            <a:srgbClr val="E8E8E8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44" name="AutoShape 44"/>
          <p:cNvSpPr/>
          <p:nvPr/>
        </p:nvSpPr>
        <p:spPr>
          <a:xfrm>
            <a:off x="4764024" y="5541264"/>
            <a:ext cx="3319272" cy="65836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8333"/>
              </a:lnSpc>
              <a:defRPr/>
            </a:pPr>
            <a:r>
              <a:rPr lang="en-US" sz="1050" b="0" i="0" u="none" strike="noStrike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界面常驻横幅明确标注</a:t>
            </a:r>
            <a:endParaRPr lang="en-US" sz="1100"/>
          </a:p>
        </p:txBody>
      </p:sp>
      <p:sp>
        <p:nvSpPr>
          <p:cNvPr id="45" name="AutoShape 45"/>
          <p:cNvSpPr/>
          <p:nvPr/>
        </p:nvSpPr>
        <p:spPr>
          <a:xfrm>
            <a:off x="8412480" y="5541264"/>
            <a:ext cx="3611880" cy="658368"/>
          </a:xfrm>
          <a:prstGeom prst="roundRect">
            <a:avLst>
              <a:gd name="adj" fmla="val 6943"/>
            </a:avLst>
          </a:prstGeom>
          <a:solidFill>
            <a:srgbClr val="E8E8E8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46" name="AutoShape 46"/>
          <p:cNvSpPr/>
          <p:nvPr/>
        </p:nvSpPr>
        <p:spPr>
          <a:xfrm>
            <a:off x="8558784" y="5541264"/>
            <a:ext cx="3319272" cy="65836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8333"/>
              </a:lnSpc>
              <a:defRPr/>
            </a:pPr>
            <a:r>
              <a:rPr lang="en-US" sz="1050" b="1" i="0" u="none" strike="noStrike">
                <a:solidFill>
                  <a:srgbClr val="0C2744"/>
                </a:solidFill>
                <a:latin typeface="微软雅黑"/>
                <a:ea typeface="微软雅黑"/>
                <a:cs typeface="微软雅黑"/>
                <a:sym typeface="微软雅黑"/>
              </a:rPr>
              <a:t>完善模板 + 接入轻量本地模型</a:t>
            </a:r>
            <a:endParaRPr lang="en-US" sz="1100"/>
          </a:p>
        </p:txBody>
      </p:sp>
    </p:spTree>
  </p:cSld>
  <p:clrMapOvr>
    <a:masterClrMapping/>
  </p:clrMapOvr>
  <p:transition spd="slow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858293" cy="7232904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706624" y="1453896"/>
            <a:ext cx="7452360" cy="2011680"/>
          </a:xfrm>
          <a:prstGeom prst="rect">
            <a:avLst/>
          </a:prstGeom>
          <a:noFill/>
          <a:ln w="12700">
            <a:solidFill>
              <a:srgbClr val="FFFFF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2926080" y="1645920"/>
            <a:ext cx="7013448" cy="10515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6800" b="1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2798064" y="2697480"/>
            <a:ext cx="7269480" cy="5486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20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智学伴——不是给答案，是教你想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2706624" y="4572000"/>
            <a:ext cx="3017520" cy="329184"/>
          </a:xfrm>
          <a:prstGeom prst="rect">
            <a:avLst/>
          </a:prstGeom>
          <a:noFill/>
          <a:ln w="12700">
            <a:solidFill>
              <a:srgbClr val="FFFFF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2706624" y="4572000"/>
            <a:ext cx="3017520" cy="329184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本科组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706624" y="5074920"/>
            <a:ext cx="7452360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8FB8DE"/>
                </a:solidFill>
                <a:latin typeface="微软雅黑"/>
                <a:ea typeface="微软雅黑"/>
                <a:cs typeface="微软雅黑"/>
                <a:sym typeface="微软雅黑"/>
              </a:rPr>
              <a:t>敬请评委老师批评指正 ｜ 2026 年福建省大学生计算科学与智能创新大赛</a:t>
            </a:r>
            <a:endParaRPr lang="en-US" sz="1100"/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2110</Words>
  <Application>Microsoft Office PowerPoint</Application>
  <PresentationFormat>自定义</PresentationFormat>
  <Paragraphs>616</Paragraphs>
  <Slides>31</Slides>
  <Notes>31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31</vt:i4>
      </vt:variant>
    </vt:vector>
  </HeadingPairs>
  <TitlesOfParts>
    <vt:vector size="38" baseType="lpstr">
      <vt:lpstr>Noto Sans SC</vt:lpstr>
      <vt:lpstr>等线</vt:lpstr>
      <vt:lpstr>微软雅黑</vt:lpstr>
      <vt:lpstr>Arial</vt:lpstr>
      <vt:lpstr>Calibri</vt:lpstr>
      <vt:lpstr>Office 主题​​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Ha Ji Mi</cp:lastModifiedBy>
  <cp:revision>1</cp:revision>
  <dcterms:modified xsi:type="dcterms:W3CDTF">2026-09-17T17:16:47Z</dcterms:modified>
</cp:coreProperties>
</file>